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94" r:id="rId2"/>
    <p:sldId id="256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6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792" dt="2026-10-29T18:08:38.665"/>
    <p1510:client id="{32670E96-8446-2C01-897B-8442FB056468}" v="1082" dt="2026-10-29T15:19:10.181"/>
    <p1510:client id="{E3F137B5-0D2A-8FE2-A106-725DAEF3BF95}" v="1876" dt="2026-10-29T18:06:32.3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ocs.docker.com/desktop/setup/install/mac-install/?utm_source=chatgpt.com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web/&#8203;" TargetMode="External"/><Relationship Id="rId2" Type="http://schemas.openxmlformats.org/officeDocument/2006/relationships/hyperlink" Target="http://localhost:8080/api/health&#8203;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D94EE-09D8-FA2B-B019-4293A20F0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Kubernetes-DevOps-Assignment</a:t>
            </a:r>
          </a:p>
        </p:txBody>
      </p:sp>
    </p:spTree>
    <p:extLst>
      <p:ext uri="{BB962C8B-B14F-4D97-AF65-F5344CB8AC3E}">
        <p14:creationId xmlns:p14="http://schemas.microsoft.com/office/powerpoint/2010/main" val="4281501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615989B-F10B-33E5-52F8-5E75B7DD0F73}"/>
              </a:ext>
            </a:extLst>
          </p:cNvPr>
          <p:cNvSpPr txBox="1"/>
          <p:nvPr/>
        </p:nvSpPr>
        <p:spPr>
          <a:xfrm>
            <a:off x="285023" y="258847"/>
            <a:ext cx="11668488" cy="37548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221"/>
              </a:lnSpc>
            </a:pPr>
            <a:r>
              <a:rPr lang="en-US" sz="900" b="0" i="0" u="none" strike="noStrike">
                <a:latin typeface="Aptos"/>
                <a:ea typeface="Segoe UI"/>
                <a:cs typeface="Segoe UI"/>
              </a:rPr>
              <a:t>Phase 1: </a:t>
            </a:r>
            <a:r>
              <a:rPr lang="en-US" sz="900" b="0" i="0" u="none" strike="noStrike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Install Docker Desktop and Kubernetes tools</a:t>
            </a:r>
            <a:r>
              <a:rPr sz="9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</a:rPr>
              <a:t> </a:t>
            </a:r>
          </a:p>
          <a:p>
            <a:pPr algn="l" rtl="0">
              <a:lnSpc>
                <a:spcPts val="1221"/>
              </a:lnSpc>
            </a:pPr>
            <a:r>
              <a:rPr lang="en-US" sz="900" b="0" i="0" u="none" strike="noStrike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1.1 - Install Docker Desktop</a:t>
            </a:r>
            <a:r>
              <a:rPr sz="9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</a:rPr>
              <a:t> </a:t>
            </a:r>
          </a:p>
          <a:p>
            <a:pPr marL="228600" lvl="0" indent="-228600" algn="l" rtl="0">
              <a:lnSpc>
                <a:spcPts val="1221"/>
              </a:lnSpc>
              <a:buFont typeface="Symbol"/>
              <a:buChar char="•"/>
            </a:pPr>
            <a:r>
              <a:rPr lang="en-US" sz="9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</a:rPr>
              <a:t>Open the official </a:t>
            </a:r>
            <a:r>
              <a:rPr lang="en-US" sz="900" b="0" i="0" u="sng" strike="noStrike">
                <a:latin typeface="Aptos"/>
                <a:ea typeface="Aptos"/>
                <a:cs typeface="Aptos"/>
                <a:hlinkClick r:id="rId2"/>
              </a:rPr>
              <a:t>Docker Desktop for Mac installation page</a:t>
            </a:r>
            <a:r>
              <a:rPr lang="en-US" sz="9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</a:rPr>
              <a:t>.</a:t>
            </a:r>
            <a:r>
              <a:rPr sz="9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</a:rPr>
              <a:t> </a:t>
            </a:r>
          </a:p>
          <a:p>
            <a:pPr marL="228600" lvl="0" indent="-228600" algn="l" rtl="0">
              <a:lnSpc>
                <a:spcPts val="1221"/>
              </a:lnSpc>
              <a:buFont typeface="Symbol"/>
              <a:buChar char="•"/>
            </a:pPr>
            <a:r>
              <a:rPr lang="en-US" sz="9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</a:rPr>
              <a:t>Download the version for Mac with Apple silicon (your M2 chip). </a:t>
            </a:r>
            <a:r>
              <a:rPr sz="9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</a:rPr>
              <a:t> </a:t>
            </a:r>
          </a:p>
          <a:p>
            <a:pPr algn="l" rtl="0">
              <a:lnSpc>
                <a:spcPts val="1221"/>
              </a:lnSpc>
            </a:pPr>
            <a:r>
              <a:rPr lang="en-US" sz="900" b="0" i="0" u="none" strike="noStrike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Docker Docs</a:t>
            </a:r>
            <a:r>
              <a:rPr sz="9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</a:rPr>
              <a:t> </a:t>
            </a:r>
          </a:p>
          <a:p>
            <a:pPr marL="228600" lvl="0" indent="-228600" algn="l" rtl="0">
              <a:lnSpc>
                <a:spcPts val="1221"/>
              </a:lnSpc>
              <a:buFont typeface="Symbol"/>
              <a:buChar char="•"/>
            </a:pPr>
            <a:r>
              <a:rPr lang="en-US" sz="9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</a:rPr>
              <a:t>Open the downloaded .dmg file.</a:t>
            </a:r>
            <a:r>
              <a:rPr sz="9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</a:rPr>
              <a:t> </a:t>
            </a:r>
          </a:p>
          <a:p>
            <a:pPr marL="228600" lvl="0" indent="-228600" algn="l" rtl="0">
              <a:lnSpc>
                <a:spcPts val="1221"/>
              </a:lnSpc>
              <a:buFont typeface="Symbol"/>
              <a:buChar char="•"/>
            </a:pPr>
            <a:r>
              <a:rPr lang="en-US" sz="9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</a:rPr>
              <a:t>Drag Docker into the Applications folder.</a:t>
            </a:r>
            <a:r>
              <a:rPr sz="9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</a:rPr>
              <a:t> </a:t>
            </a:r>
          </a:p>
          <a:p>
            <a:pPr marL="228600" lvl="0" indent="-228600" algn="l" rtl="0">
              <a:lnSpc>
                <a:spcPts val="1221"/>
              </a:lnSpc>
              <a:buFont typeface="Symbol"/>
              <a:buChar char="•"/>
            </a:pPr>
            <a:r>
              <a:rPr lang="en-US" sz="9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</a:rPr>
              <a:t>Open Applications → Docker and accept the terms.</a:t>
            </a:r>
            <a:r>
              <a:rPr sz="9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</a:rPr>
              <a:t> </a:t>
            </a:r>
          </a:p>
          <a:p>
            <a:pPr marL="228600" lvl="0" indent="-228600" algn="l" rtl="0">
              <a:lnSpc>
                <a:spcPts val="1221"/>
              </a:lnSpc>
              <a:buFont typeface="Symbol"/>
              <a:buChar char="•"/>
            </a:pPr>
            <a:r>
              <a:rPr lang="en-US" sz="9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</a:rPr>
              <a:t>Wait until Docker Desktop finishes starting.</a:t>
            </a:r>
            <a:r>
              <a:rPr sz="9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</a:rPr>
              <a:t> </a:t>
            </a:r>
          </a:p>
          <a:p>
            <a:pPr algn="l" rtl="0">
              <a:lnSpc>
                <a:spcPts val="1569"/>
              </a:lnSpc>
            </a:pPr>
            <a:endParaRPr sz="1200" b="0" i="0" u="none" strike="noStrike">
              <a:latin typeface="Aptos"/>
              <a:ea typeface="Aptos"/>
              <a:cs typeface="Aptos"/>
            </a:endParaRPr>
          </a:p>
          <a:p>
            <a:pPr algn="l" rtl="0">
              <a:lnSpc>
                <a:spcPts val="1221"/>
              </a:lnSpc>
            </a:pPr>
            <a:endParaRPr sz="900" b="0" i="0" u="none" strike="noStrike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l" rtl="0">
              <a:lnSpc>
                <a:spcPts val="1569"/>
              </a:lnSpc>
            </a:pPr>
            <a:endParaRPr sz="1200" b="0" i="0" u="none" strike="noStrike">
              <a:latin typeface="Aptos"/>
              <a:ea typeface="Aptos"/>
              <a:cs typeface="Aptos"/>
            </a:endParaRPr>
          </a:p>
          <a:p>
            <a:pPr algn="l" rtl="0">
              <a:lnSpc>
                <a:spcPts val="1569"/>
              </a:lnSpc>
            </a:pPr>
            <a:endParaRPr sz="1200" b="0" i="0" u="none" strike="noStrike">
              <a:latin typeface="Aptos"/>
              <a:ea typeface="Aptos"/>
              <a:cs typeface="Aptos"/>
            </a:endParaRPr>
          </a:p>
          <a:p>
            <a:pPr algn="l" rtl="0">
              <a:lnSpc>
                <a:spcPts val="1569"/>
              </a:lnSpc>
            </a:pPr>
            <a:endParaRPr sz="1200" b="0" i="0" u="none" strike="noStrike">
              <a:latin typeface="Aptos"/>
              <a:ea typeface="Aptos"/>
              <a:cs typeface="Aptos"/>
            </a:endParaRPr>
          </a:p>
          <a:p>
            <a:pPr algn="l" rtl="0">
              <a:lnSpc>
                <a:spcPts val="1569"/>
              </a:lnSpc>
            </a:pPr>
            <a:endParaRPr sz="1200" b="0" i="0" u="none" strike="noStrike">
              <a:latin typeface="Aptos"/>
              <a:ea typeface="Aptos"/>
              <a:cs typeface="Aptos"/>
            </a:endParaRPr>
          </a:p>
          <a:p>
            <a:pPr algn="l" rtl="0">
              <a:lnSpc>
                <a:spcPts val="1569"/>
              </a:lnSpc>
            </a:pPr>
            <a:endParaRPr sz="1200" b="0" i="0" u="none" strike="noStrike">
              <a:latin typeface="Aptos"/>
              <a:ea typeface="Aptos"/>
              <a:cs typeface="Aptos"/>
            </a:endParaRPr>
          </a:p>
          <a:p>
            <a:pPr algn="l" rtl="0">
              <a:lnSpc>
                <a:spcPts val="1569"/>
              </a:lnSpc>
            </a:pPr>
            <a:endParaRPr sz="1200" b="0" i="0" u="none" strike="noStrike">
              <a:latin typeface="Aptos"/>
              <a:ea typeface="Aptos"/>
              <a:cs typeface="Aptos"/>
            </a:endParaRPr>
          </a:p>
          <a:p>
            <a:pPr algn="l" rtl="0">
              <a:lnSpc>
                <a:spcPts val="1569"/>
              </a:lnSpc>
            </a:pPr>
            <a:endParaRPr sz="1200" b="0" i="0" u="none" strike="noStrike">
              <a:latin typeface="Aptos"/>
              <a:ea typeface="Aptos"/>
              <a:cs typeface="Aptos"/>
            </a:endParaRPr>
          </a:p>
          <a:p>
            <a:pPr algn="l" rtl="0">
              <a:lnSpc>
                <a:spcPts val="1569"/>
              </a:lnSpc>
            </a:pPr>
            <a:endParaRPr sz="1200" b="0" i="0" u="none" strike="noStrike">
              <a:latin typeface="Aptos"/>
              <a:ea typeface="Aptos"/>
              <a:cs typeface="Aptos"/>
            </a:endParaRPr>
          </a:p>
          <a:p>
            <a:pPr algn="ctr"/>
            <a:endParaRPr lang="en-US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625824-C066-57F5-94C5-E504174B5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44" y="1963531"/>
            <a:ext cx="3790950" cy="2409825"/>
          </a:xfrm>
          <a:prstGeom prst="rect">
            <a:avLst/>
          </a:prstGeom>
        </p:spPr>
      </p:pic>
      <p:pic>
        <p:nvPicPr>
          <p:cNvPr id="11" name="Picture 10" descr="A thermometer and a thermometer with a curved arrow&#10;&#10;AI-generated content may be incorrect.">
            <a:extLst>
              <a:ext uri="{FF2B5EF4-FFF2-40B4-BE49-F238E27FC236}">
                <a16:creationId xmlns:a16="http://schemas.microsoft.com/office/drawing/2014/main" id="{B888EE7A-71AD-867A-2B02-B11157320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6375" y="1964531"/>
            <a:ext cx="5715000" cy="22383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2053D7D-C7C3-0E5D-5431-7F95A902AF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493512"/>
            <a:ext cx="12192000" cy="236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DF8AD4-0568-FE6D-7A02-7EF3E302746E}"/>
              </a:ext>
            </a:extLst>
          </p:cNvPr>
          <p:cNvSpPr txBox="1"/>
          <p:nvPr/>
        </p:nvSpPr>
        <p:spPr>
          <a:xfrm>
            <a:off x="154781" y="238125"/>
            <a:ext cx="11721703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b="1" i="0" u="none" strike="noStrike">
                <a:solidFill>
                  <a:srgbClr val="000000"/>
                </a:solidFill>
              </a:rPr>
              <a:t>1.2 Verify Docker</a:t>
            </a:r>
          </a:p>
          <a:p>
            <a:r>
              <a:rPr lang="en-US" sz="1200" b="0" i="0" u="none" strike="noStrike">
                <a:solidFill>
                  <a:srgbClr val="000000"/>
                </a:solidFill>
              </a:rPr>
              <a:t>Open Terminal on your Mac using Command + Space, type Terminal, and press Enter.</a:t>
            </a:r>
            <a:r>
              <a:rPr lang="en-US" sz="1200">
                <a:solidFill>
                  <a:srgbClr val="000000"/>
                </a:solidFill>
              </a:rPr>
              <a:t> </a:t>
            </a:r>
            <a:r>
              <a:rPr lang="en-US" sz="1200" b="0" i="0" u="none" strike="noStrike">
                <a:solidFill>
                  <a:srgbClr val="000000"/>
                </a:solidFill>
              </a:rPr>
              <a:t>Run these commands one by one:</a:t>
            </a:r>
          </a:p>
          <a:p>
            <a:endParaRPr lang="en-US" sz="1200"/>
          </a:p>
          <a:p>
            <a:r>
              <a:rPr lang="en-US" sz="1200"/>
              <a:t>docker –version</a:t>
            </a:r>
            <a:endParaRPr lang="en-US"/>
          </a:p>
          <a:p>
            <a:endParaRPr lang="en-US" sz="1200"/>
          </a:p>
          <a:p>
            <a:r>
              <a:rPr lang="en-US" sz="1200"/>
              <a:t>docker info</a:t>
            </a:r>
            <a:endParaRPr lang="en-US"/>
          </a:p>
          <a:p>
            <a:endParaRPr lang="en-US" sz="1200"/>
          </a:p>
          <a:p>
            <a:r>
              <a:rPr lang="en-US" sz="1200"/>
              <a:t>docker run hello-world --&gt; Expected Output -  Hello from Docker!</a:t>
            </a:r>
            <a:endParaRPr lang="en-US"/>
          </a:p>
          <a:p>
            <a:pPr algn="ctr"/>
            <a:endParaRPr lang="en-US" sz="1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EB6127-B81C-A289-15AA-49AC65E20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99016"/>
            <a:ext cx="3823952" cy="19723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CC4C45-7546-1617-1BAF-E6B789060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6260" y="2299709"/>
            <a:ext cx="6898718" cy="19735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C71473-0822-C278-A36E-3EFD45BEE7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57619"/>
            <a:ext cx="5956397" cy="23984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FBCB32-2AE6-F70E-1552-BCA451E4B1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0901" y="4466716"/>
            <a:ext cx="6061100" cy="240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792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C126D3-3ED7-8876-E8B9-EE0285C563B8}"/>
              </a:ext>
            </a:extLst>
          </p:cNvPr>
          <p:cNvSpPr txBox="1"/>
          <p:nvPr/>
        </p:nvSpPr>
        <p:spPr>
          <a:xfrm>
            <a:off x="0" y="43626"/>
            <a:ext cx="4606901" cy="7087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1.3 Install </a:t>
            </a:r>
            <a:r>
              <a:rPr lang="en-US" b="1" err="1"/>
              <a:t>kubectl</a:t>
            </a:r>
            <a:r>
              <a:rPr lang="en-US" b="1"/>
              <a:t> and Git</a:t>
            </a:r>
          </a:p>
          <a:p>
            <a:r>
              <a:rPr lang="en-US"/>
              <a:t>Check whether Homebrew is installed:</a:t>
            </a:r>
          </a:p>
          <a:p>
            <a:endParaRPr lang="en-US"/>
          </a:p>
          <a:p>
            <a:r>
              <a:rPr lang="en-US"/>
              <a:t>Install Homebrew first, if it is not installed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brew –version</a:t>
            </a:r>
          </a:p>
          <a:p>
            <a:pPr marL="285750" indent="-285750">
              <a:buFont typeface="Calibri"/>
              <a:buChar char="-"/>
            </a:pPr>
            <a:endParaRPr lang="en-US"/>
          </a:p>
          <a:p>
            <a:pPr marL="285750" indent="-285750">
              <a:buFont typeface="Calibri"/>
              <a:buChar char="-"/>
            </a:pPr>
            <a:endParaRPr lang="en-US"/>
          </a:p>
          <a:p>
            <a:pPr marL="285750" indent="-285750">
              <a:buFont typeface="Calibri"/>
              <a:buChar char="-"/>
            </a:pPr>
            <a:endParaRPr lang="en-US"/>
          </a:p>
          <a:p>
            <a:pPr marL="285750" indent="-285750">
              <a:buFont typeface="Calibri"/>
              <a:buChar char="-"/>
            </a:pPr>
            <a:endParaRPr lang="en-US"/>
          </a:p>
          <a:p>
            <a:endParaRPr lang="en-US"/>
          </a:p>
          <a:p>
            <a:r>
              <a:rPr lang="en-US"/>
              <a:t>Then use following commands to Install </a:t>
            </a:r>
            <a:r>
              <a:rPr lang="en-US" err="1"/>
              <a:t>Kubectl</a:t>
            </a:r>
            <a:r>
              <a:rPr lang="en-US"/>
              <a:t> and Git</a:t>
            </a:r>
          </a:p>
          <a:p>
            <a:pPr marL="285750" indent="-285750">
              <a:buFont typeface="Calibri,Sans-Serif"/>
              <a:buChar char="-"/>
            </a:pPr>
            <a:endParaRPr lang="en-US"/>
          </a:p>
          <a:p>
            <a:pPr marL="285750" indent="-285750">
              <a:buFont typeface="Calibri,Sans-Serif"/>
              <a:buChar char="-"/>
            </a:pPr>
            <a:endParaRPr lang="en-US"/>
          </a:p>
          <a:p>
            <a:pPr marL="285750" indent="-285750">
              <a:buFont typeface="Calibri,Sans-Serif"/>
              <a:buChar char="-"/>
            </a:pPr>
            <a:endParaRPr lang="en-US"/>
          </a:p>
          <a:p>
            <a:pPr marL="285750" indent="-285750">
              <a:buFont typeface="Calibri,Sans-Serif"/>
              <a:buChar char="-"/>
            </a:pPr>
            <a:endParaRPr lang="en-US"/>
          </a:p>
          <a:p>
            <a:pPr marL="285750" indent="-285750">
              <a:buFont typeface="Calibri,Sans-Serif"/>
              <a:buChar char="-"/>
            </a:pPr>
            <a:r>
              <a:rPr lang="en-US"/>
              <a:t>git --version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285750" indent="-285750">
              <a:buFont typeface="Calibri"/>
              <a:buChar char="-"/>
            </a:pPr>
            <a:r>
              <a:rPr lang="en-US"/>
              <a:t>brew install </a:t>
            </a:r>
            <a:r>
              <a:rPr lang="en-US" err="1"/>
              <a:t>kubectl</a:t>
            </a:r>
          </a:p>
          <a:p>
            <a:pPr marL="285750" indent="-285750">
              <a:buFont typeface="Calibri"/>
              <a:buChar char="-"/>
            </a:pPr>
            <a:r>
              <a:rPr lang="en-US" err="1"/>
              <a:t>kubectl</a:t>
            </a:r>
            <a:r>
              <a:rPr lang="en-US"/>
              <a:t> version --client</a:t>
            </a:r>
          </a:p>
          <a:p>
            <a:pPr marL="285750" indent="-285750">
              <a:buFont typeface="Calibri"/>
              <a:buChar char="-"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D1219A-878F-1C3F-DB02-BDF74495F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612" y="363840"/>
            <a:ext cx="7374530" cy="2209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441599-803D-AD0D-D662-30EE81D9B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390" y="3427378"/>
            <a:ext cx="7346611" cy="13527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66B2D2-7B9D-1F7B-4274-F45F98FA5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841" y="5013836"/>
            <a:ext cx="7340794" cy="160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438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2F5C3D-B6B7-6BA8-F386-EBA0ED50B7C7}"/>
              </a:ext>
            </a:extLst>
          </p:cNvPr>
          <p:cNvSpPr txBox="1"/>
          <p:nvPr/>
        </p:nvSpPr>
        <p:spPr>
          <a:xfrm>
            <a:off x="0" y="159962"/>
            <a:ext cx="1198841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1.4 Enable Kubernetes in Docker Desktop</a:t>
            </a:r>
          </a:p>
          <a:p>
            <a:r>
              <a:rPr lang="en-US">
                <a:ea typeface="+mn-lt"/>
                <a:cs typeface="+mn-lt"/>
              </a:rPr>
              <a:t>After Docker is running: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Open Docker Desktop.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Go to Settings → Kubernetes.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Enable Kubernetes using the option provided by your installed Docker Desktop version.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    Apply the changes and wait until the cluster is ready.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264639-C991-9303-728B-DEA72CBED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8964"/>
            <a:ext cx="6148352" cy="28539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5B59E8-E8EC-7691-2E1D-DC97F96E0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084" y="1910129"/>
            <a:ext cx="6096001" cy="28283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BC0D81-1C8E-9D7F-4371-9ACD8C5110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715" y="5020620"/>
            <a:ext cx="6199684" cy="18366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D40213-C5B3-403C-337F-0B7A920C2EDB}"/>
              </a:ext>
            </a:extLst>
          </p:cNvPr>
          <p:cNvSpPr txBox="1"/>
          <p:nvPr/>
        </p:nvSpPr>
        <p:spPr>
          <a:xfrm>
            <a:off x="104536" y="5407037"/>
            <a:ext cx="54596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Scroll down and click apply , click install and wait --&gt;</a:t>
            </a:r>
          </a:p>
        </p:txBody>
      </p:sp>
    </p:spTree>
    <p:extLst>
      <p:ext uri="{BB962C8B-B14F-4D97-AF65-F5344CB8AC3E}">
        <p14:creationId xmlns:p14="http://schemas.microsoft.com/office/powerpoint/2010/main" val="2266357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FB9A6E-E0CE-E3E3-6D29-0FD41600C7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620" t="-2466" r="620" b="2564"/>
          <a:stretch>
            <a:fillRect/>
          </a:stretch>
        </p:blipFill>
        <p:spPr>
          <a:xfrm>
            <a:off x="5694641" y="-341"/>
            <a:ext cx="3775112" cy="22517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A790E4-2644-572D-CD6D-2693C97B5A23}"/>
              </a:ext>
            </a:extLst>
          </p:cNvPr>
          <p:cNvSpPr txBox="1"/>
          <p:nvPr/>
        </p:nvSpPr>
        <p:spPr>
          <a:xfrm>
            <a:off x="174420" y="174420"/>
            <a:ext cx="78910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After it finished starting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7B70D5-52C8-52B0-41A3-BEAECD94F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668" y="2600107"/>
            <a:ext cx="6736465" cy="31934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EA0E47-F32D-5B1B-FDFC-A1C65DEEC151}"/>
              </a:ext>
            </a:extLst>
          </p:cNvPr>
          <p:cNvSpPr txBox="1"/>
          <p:nvPr/>
        </p:nvSpPr>
        <p:spPr>
          <a:xfrm>
            <a:off x="174323" y="2599232"/>
            <a:ext cx="473835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So now our cluster is running </a:t>
            </a:r>
          </a:p>
        </p:txBody>
      </p:sp>
    </p:spTree>
    <p:extLst>
      <p:ext uri="{BB962C8B-B14F-4D97-AF65-F5344CB8AC3E}">
        <p14:creationId xmlns:p14="http://schemas.microsoft.com/office/powerpoint/2010/main" val="3379351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F1569F-F203-BCB5-1524-DB0947ACF867}"/>
              </a:ext>
            </a:extLst>
          </p:cNvPr>
          <p:cNvSpPr txBox="1"/>
          <p:nvPr/>
        </p:nvSpPr>
        <p:spPr>
          <a:xfrm>
            <a:off x="247095" y="116280"/>
            <a:ext cx="11785995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use following command to check nodes and setup</a:t>
            </a:r>
          </a:p>
          <a:p>
            <a:endParaRPr lang="en-US"/>
          </a:p>
          <a:p>
            <a:pPr marL="285750" indent="-285750">
              <a:buFont typeface="Calibri"/>
              <a:buChar char="-"/>
            </a:pPr>
            <a:r>
              <a:rPr lang="en-US"/>
              <a:t>kubectl config current-context</a:t>
            </a:r>
          </a:p>
          <a:p>
            <a:pPr marL="285750" indent="-285750">
              <a:buFont typeface="Calibri"/>
              <a:buChar char="-"/>
            </a:pPr>
            <a:r>
              <a:rPr lang="en-US" err="1"/>
              <a:t>kubectl</a:t>
            </a:r>
            <a:r>
              <a:rPr lang="en-US"/>
              <a:t> get nodes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kubectl get pods -A</a:t>
            </a:r>
          </a:p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A1D145-8FA7-DCFA-4D93-2F3C36EDB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2972"/>
            <a:ext cx="12192000" cy="283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921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604E3D-3C56-B420-90A4-AB698F23B250}"/>
              </a:ext>
            </a:extLst>
          </p:cNvPr>
          <p:cNvSpPr txBox="1"/>
          <p:nvPr/>
        </p:nvSpPr>
        <p:spPr>
          <a:xfrm>
            <a:off x="130815" y="305235"/>
            <a:ext cx="4993481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Phase 2: </a:t>
            </a:r>
            <a:r>
              <a:rPr lang="en-US" b="1">
                <a:ea typeface="+mn-lt"/>
                <a:cs typeface="+mn-lt"/>
              </a:rPr>
              <a:t>Create the project directory</a:t>
            </a:r>
          </a:p>
          <a:p>
            <a:endParaRPr lang="en-US"/>
          </a:p>
          <a:p>
            <a:pPr marL="285750" indent="-285750">
              <a:buFont typeface="Calibri"/>
              <a:buChar char="-"/>
            </a:pPr>
            <a:r>
              <a:rPr lang="en-US" err="1"/>
              <a:t>mkdir</a:t>
            </a:r>
            <a:r>
              <a:rPr lang="en-US"/>
              <a:t> -p ~/</a:t>
            </a:r>
            <a:r>
              <a:rPr lang="en-US" err="1"/>
              <a:t>kubernetes</a:t>
            </a:r>
            <a:r>
              <a:rPr lang="en-US"/>
              <a:t>-</a:t>
            </a:r>
            <a:r>
              <a:rPr lang="en-US" err="1"/>
              <a:t>devops</a:t>
            </a:r>
            <a:r>
              <a:rPr lang="en-US"/>
              <a:t>-assignment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cd ~/</a:t>
            </a:r>
            <a:r>
              <a:rPr lang="en-US" err="1"/>
              <a:t>kubernetes</a:t>
            </a:r>
            <a:r>
              <a:rPr lang="en-US"/>
              <a:t>-</a:t>
            </a:r>
            <a:r>
              <a:rPr lang="en-US" err="1"/>
              <a:t>devops</a:t>
            </a:r>
            <a:r>
              <a:rPr lang="en-US"/>
              <a:t>-assignment</a:t>
            </a:r>
          </a:p>
          <a:p>
            <a:endParaRPr lang="en-US"/>
          </a:p>
          <a:p>
            <a:pPr marL="285750" indent="-285750">
              <a:buFont typeface="Calibri"/>
              <a:buChar char="-"/>
            </a:pPr>
            <a:r>
              <a:rPr lang="en-US" err="1"/>
              <a:t>mkdir</a:t>
            </a:r>
            <a:r>
              <a:rPr lang="en-US"/>
              <a:t> -p k8s app nginx scripts screenshots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78E5F5-2146-C484-901D-4A09251FF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266" y="-2331"/>
            <a:ext cx="7018735" cy="26835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1B9BBD-565D-C1C0-5E62-9238302EE51E}"/>
              </a:ext>
            </a:extLst>
          </p:cNvPr>
          <p:cNvSpPr txBox="1"/>
          <p:nvPr/>
        </p:nvSpPr>
        <p:spPr>
          <a:xfrm>
            <a:off x="235" y="3590156"/>
            <a:ext cx="11958636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+mn-lt"/>
                <a:cs typeface="+mn-lt"/>
              </a:rPr>
              <a:t>Label the Kubernetes node</a:t>
            </a:r>
          </a:p>
          <a:p>
            <a:r>
              <a:rPr lang="en-US" sz="1400"/>
              <a:t>Retrieve node name </a:t>
            </a:r>
          </a:p>
          <a:p>
            <a:pPr marL="285750" indent="-285750">
              <a:buFont typeface="Calibri"/>
              <a:buChar char="-"/>
            </a:pPr>
            <a:r>
              <a:rPr lang="en-US" sz="1400" err="1"/>
              <a:t>kubectl</a:t>
            </a:r>
            <a:r>
              <a:rPr lang="en-US" sz="1400"/>
              <a:t> get nodes</a:t>
            </a:r>
          </a:p>
          <a:p>
            <a:endParaRPr lang="en-US" sz="1400"/>
          </a:p>
          <a:p>
            <a:r>
              <a:rPr lang="en-US" sz="1400">
                <a:ea typeface="+mn-lt"/>
                <a:cs typeface="+mn-lt"/>
              </a:rPr>
              <a:t>Now automatically capture the node name and add the database label:</a:t>
            </a:r>
            <a:endParaRPr lang="en-US" sz="1400"/>
          </a:p>
          <a:p>
            <a:endParaRPr lang="en-US" sz="1400"/>
          </a:p>
          <a:p>
            <a:pPr marL="285750" indent="-285750">
              <a:buFont typeface="Calibri"/>
              <a:buChar char="-"/>
            </a:pPr>
            <a:r>
              <a:rPr lang="en-US" sz="1400"/>
              <a:t>NODE=$(</a:t>
            </a:r>
            <a:r>
              <a:rPr lang="en-US" sz="1400" err="1"/>
              <a:t>kubectl</a:t>
            </a:r>
            <a:r>
              <a:rPr lang="en-US" sz="1400"/>
              <a:t> get nodes -o </a:t>
            </a:r>
            <a:r>
              <a:rPr lang="en-US" sz="1400" err="1"/>
              <a:t>jsonpath</a:t>
            </a:r>
            <a:r>
              <a:rPr lang="en-US" sz="1400"/>
              <a:t>='{.items[0].metadata.name}')</a:t>
            </a:r>
          </a:p>
          <a:p>
            <a:pPr marL="285750" indent="-285750">
              <a:buFont typeface="Calibri"/>
              <a:buChar char="-"/>
            </a:pPr>
            <a:r>
              <a:rPr lang="en-US" sz="1400" err="1"/>
              <a:t>kubectl</a:t>
            </a:r>
            <a:r>
              <a:rPr lang="en-US" sz="1400"/>
              <a:t> label nodes "$NODE" workload=database –overwrite</a:t>
            </a:r>
          </a:p>
          <a:p>
            <a:endParaRPr lang="en-US" sz="1400"/>
          </a:p>
          <a:p>
            <a:r>
              <a:rPr lang="en-US" sz="1400"/>
              <a:t>Verify</a:t>
            </a:r>
          </a:p>
          <a:p>
            <a:endParaRPr lang="en-US" sz="1400"/>
          </a:p>
          <a:p>
            <a:r>
              <a:rPr lang="en-US" sz="1400" err="1"/>
              <a:t>kubectl</a:t>
            </a:r>
            <a:r>
              <a:rPr lang="en-US" sz="1400"/>
              <a:t> get nodes --show-labels</a:t>
            </a:r>
          </a:p>
          <a:p>
            <a:endParaRPr lang="en-US" sz="1400"/>
          </a:p>
          <a:p>
            <a:r>
              <a:rPr lang="en-US" sz="1400"/>
              <a:t>Look for </a:t>
            </a:r>
            <a:r>
              <a:rPr lang="en-US" sz="1400">
                <a:latin typeface="Consolas"/>
              </a:rPr>
              <a:t>workload=database</a:t>
            </a:r>
            <a:endParaRPr lang="en-US" sz="1400"/>
          </a:p>
          <a:p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067846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8A496E3-B279-88DA-C1C3-A251115642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-267"/>
          <a:stretch>
            <a:fillRect/>
          </a:stretch>
        </p:blipFill>
        <p:spPr>
          <a:xfrm>
            <a:off x="0" y="1419"/>
            <a:ext cx="12192000" cy="22425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410555-F100-574F-80D0-644D173577C3}"/>
              </a:ext>
            </a:extLst>
          </p:cNvPr>
          <p:cNvSpPr txBox="1"/>
          <p:nvPr/>
        </p:nvSpPr>
        <p:spPr>
          <a:xfrm>
            <a:off x="275317" y="2500805"/>
            <a:ext cx="1164289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Why are we doing this now?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 The database deployment will use this label to select its node. Because your cluster has one node, this </a:t>
            </a:r>
          </a:p>
          <a:p>
            <a:r>
              <a:rPr lang="en-US">
                <a:ea typeface="+mn-lt"/>
                <a:cs typeface="+mn-lt"/>
              </a:rPr>
              <a:t>demonstrates the scheduling requirement without needing additional machines.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803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5456E3-BE56-92E3-2D6F-B9D4F9CA1EC8}"/>
              </a:ext>
            </a:extLst>
          </p:cNvPr>
          <p:cNvSpPr txBox="1"/>
          <p:nvPr/>
        </p:nvSpPr>
        <p:spPr>
          <a:xfrm>
            <a:off x="101745" y="145350"/>
            <a:ext cx="1195118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Phase 3: </a:t>
            </a:r>
            <a:r>
              <a:rPr lang="en-US" b="1">
                <a:ea typeface="+mn-lt"/>
                <a:cs typeface="+mn-lt"/>
              </a:rPr>
              <a:t>Create the Python API </a:t>
            </a:r>
          </a:p>
          <a:p>
            <a:r>
              <a:rPr lang="en-US">
                <a:ea typeface="+mn-lt"/>
                <a:cs typeface="+mn-lt"/>
              </a:rPr>
              <a:t>We'll create a small, real application rather than deploying an unrelated demo container. This makes the assignment stronger because the API will actually connect to PostgreSQL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1A5FD4-7A6B-7208-2732-B428EA9E92DA}"/>
              </a:ext>
            </a:extLst>
          </p:cNvPr>
          <p:cNvSpPr txBox="1"/>
          <p:nvPr/>
        </p:nvSpPr>
        <p:spPr>
          <a:xfrm>
            <a:off x="232560" y="1250013"/>
            <a:ext cx="11799947" cy="55168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3.1: Create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>
                <a:latin typeface="Consolas"/>
              </a:rPr>
              <a:t>app/app.py</a:t>
            </a:r>
            <a:br>
              <a:rPr lang="en-US">
                <a:latin typeface="Consolas"/>
              </a:rPr>
            </a:br>
            <a:r>
              <a:rPr lang="en-US">
                <a:latin typeface="Consolas"/>
              </a:rPr>
              <a:t>Run following </a:t>
            </a:r>
            <a:r>
              <a:rPr lang="en-US" err="1">
                <a:latin typeface="Consolas"/>
              </a:rPr>
              <a:t>cmnds</a:t>
            </a:r>
          </a:p>
          <a:p>
            <a:endParaRPr lang="en-US">
              <a:latin typeface="Consolas"/>
            </a:endParaRPr>
          </a:p>
          <a:p>
            <a:r>
              <a:rPr lang="en-US" sz="1050">
                <a:latin typeface="Consolas"/>
              </a:rPr>
              <a:t>cd ~/</a:t>
            </a:r>
            <a:r>
              <a:rPr lang="en-US" sz="1050" err="1">
                <a:latin typeface="Consolas"/>
              </a:rPr>
              <a:t>kubernetes</a:t>
            </a:r>
            <a:r>
              <a:rPr lang="en-US" sz="1050">
                <a:latin typeface="Consolas"/>
              </a:rPr>
              <a:t>-</a:t>
            </a:r>
            <a:r>
              <a:rPr lang="en-US" sz="1050" err="1">
                <a:latin typeface="Consolas"/>
              </a:rPr>
              <a:t>devops</a:t>
            </a:r>
            <a:r>
              <a:rPr lang="en-US" sz="1050">
                <a:latin typeface="Consolas"/>
              </a:rPr>
              <a:t>-assignment</a:t>
            </a:r>
            <a:endParaRPr lang="en-US" sz="1050"/>
          </a:p>
          <a:p>
            <a:endParaRPr lang="en-US" sz="1050"/>
          </a:p>
          <a:p>
            <a:r>
              <a:rPr lang="en-US" sz="1050">
                <a:latin typeface="Consolas"/>
              </a:rPr>
              <a:t>cat &gt; app/app.py &lt;&lt;'EOF'</a:t>
            </a:r>
            <a:endParaRPr lang="en-US" sz="1050"/>
          </a:p>
          <a:p>
            <a:r>
              <a:rPr lang="en-US" sz="1050">
                <a:latin typeface="Consolas"/>
              </a:rPr>
              <a:t>import </a:t>
            </a:r>
            <a:r>
              <a:rPr lang="en-US" sz="1050" err="1">
                <a:latin typeface="Consolas"/>
              </a:rPr>
              <a:t>os</a:t>
            </a:r>
            <a:endParaRPr lang="en-US" sz="1050"/>
          </a:p>
          <a:p>
            <a:r>
              <a:rPr lang="en-US" sz="1050">
                <a:latin typeface="Consolas"/>
              </a:rPr>
              <a:t>import time</a:t>
            </a:r>
            <a:endParaRPr lang="en-US" sz="1050"/>
          </a:p>
          <a:p>
            <a:endParaRPr lang="en-US" sz="1050"/>
          </a:p>
          <a:p>
            <a:r>
              <a:rPr lang="en-US" sz="1050">
                <a:latin typeface="Consolas"/>
              </a:rPr>
              <a:t>import psycopg2</a:t>
            </a:r>
            <a:endParaRPr lang="en-US" sz="1050"/>
          </a:p>
          <a:p>
            <a:r>
              <a:rPr lang="en-US" sz="1050">
                <a:latin typeface="Consolas"/>
              </a:rPr>
              <a:t>from flask import Flask, </a:t>
            </a:r>
            <a:r>
              <a:rPr lang="en-US" sz="1050" err="1">
                <a:latin typeface="Consolas"/>
              </a:rPr>
              <a:t>jsonify</a:t>
            </a:r>
            <a:r>
              <a:rPr lang="en-US" sz="1050">
                <a:latin typeface="Consolas"/>
              </a:rPr>
              <a:t>, request</a:t>
            </a:r>
            <a:endParaRPr lang="en-US" sz="1050"/>
          </a:p>
          <a:p>
            <a:r>
              <a:rPr lang="en-US" sz="1050">
                <a:latin typeface="Consolas"/>
              </a:rPr>
              <a:t>from psycopg2.extras import </a:t>
            </a:r>
            <a:r>
              <a:rPr lang="en-US" sz="1050" err="1">
                <a:latin typeface="Consolas"/>
              </a:rPr>
              <a:t>RealDictCursor</a:t>
            </a:r>
            <a:endParaRPr lang="en-US" sz="1050"/>
          </a:p>
          <a:p>
            <a:endParaRPr lang="en-US" sz="1050"/>
          </a:p>
          <a:p>
            <a:r>
              <a:rPr lang="en-US" sz="1050">
                <a:latin typeface="Consolas"/>
              </a:rPr>
              <a:t>app = Flask(__name__)</a:t>
            </a:r>
            <a:endParaRPr lang="en-US" sz="1050"/>
          </a:p>
          <a:p>
            <a:endParaRPr lang="en-US" sz="1050"/>
          </a:p>
          <a:p>
            <a:r>
              <a:rPr lang="en-US" sz="1050">
                <a:latin typeface="Consolas"/>
              </a:rPr>
              <a:t>DB_HOST = </a:t>
            </a:r>
            <a:r>
              <a:rPr lang="en-US" sz="1050" err="1">
                <a:latin typeface="Consolas"/>
              </a:rPr>
              <a:t>os.getenv</a:t>
            </a:r>
            <a:r>
              <a:rPr lang="en-US" sz="1050">
                <a:latin typeface="Consolas"/>
              </a:rPr>
              <a:t>("DB_HOST", "</a:t>
            </a:r>
            <a:r>
              <a:rPr lang="en-US" sz="1050" err="1">
                <a:latin typeface="Consolas"/>
              </a:rPr>
              <a:t>postgres</a:t>
            </a:r>
            <a:r>
              <a:rPr lang="en-US" sz="1050">
                <a:latin typeface="Consolas"/>
              </a:rPr>
              <a:t>")</a:t>
            </a:r>
            <a:endParaRPr lang="en-US" sz="1050"/>
          </a:p>
          <a:p>
            <a:r>
              <a:rPr lang="en-US" sz="1050">
                <a:latin typeface="Consolas"/>
              </a:rPr>
              <a:t>DB_NAME = </a:t>
            </a:r>
            <a:r>
              <a:rPr lang="en-US" sz="1050" err="1">
                <a:latin typeface="Consolas"/>
              </a:rPr>
              <a:t>os.getenv</a:t>
            </a:r>
            <a:r>
              <a:rPr lang="en-US" sz="1050">
                <a:latin typeface="Consolas"/>
              </a:rPr>
              <a:t>("DB_NAME", "</a:t>
            </a:r>
            <a:r>
              <a:rPr lang="en-US" sz="1050" err="1">
                <a:latin typeface="Consolas"/>
              </a:rPr>
              <a:t>notesdb</a:t>
            </a:r>
            <a:r>
              <a:rPr lang="en-US" sz="1050">
                <a:latin typeface="Consolas"/>
              </a:rPr>
              <a:t>")</a:t>
            </a:r>
            <a:endParaRPr lang="en-US" sz="1050"/>
          </a:p>
          <a:p>
            <a:r>
              <a:rPr lang="en-US" sz="1050">
                <a:latin typeface="Consolas"/>
              </a:rPr>
              <a:t>DB_USER = </a:t>
            </a:r>
            <a:r>
              <a:rPr lang="en-US" sz="1050" err="1">
                <a:latin typeface="Consolas"/>
              </a:rPr>
              <a:t>os.getenv</a:t>
            </a:r>
            <a:r>
              <a:rPr lang="en-US" sz="1050">
                <a:latin typeface="Consolas"/>
              </a:rPr>
              <a:t>("DB_USER", "</a:t>
            </a:r>
            <a:r>
              <a:rPr lang="en-US" sz="1050" err="1">
                <a:latin typeface="Consolas"/>
              </a:rPr>
              <a:t>appuser</a:t>
            </a:r>
            <a:r>
              <a:rPr lang="en-US" sz="1050">
                <a:latin typeface="Consolas"/>
              </a:rPr>
              <a:t>")</a:t>
            </a:r>
            <a:endParaRPr lang="en-US" sz="1050"/>
          </a:p>
          <a:p>
            <a:r>
              <a:rPr lang="en-US" sz="1050">
                <a:latin typeface="Consolas"/>
              </a:rPr>
              <a:t>DB_PASSWORD = </a:t>
            </a:r>
            <a:r>
              <a:rPr lang="en-US" sz="1050" err="1">
                <a:latin typeface="Consolas"/>
              </a:rPr>
              <a:t>os.getenv</a:t>
            </a:r>
            <a:r>
              <a:rPr lang="en-US" sz="1050">
                <a:latin typeface="Consolas"/>
              </a:rPr>
              <a:t>("DB_PASSWORD", "change-me")</a:t>
            </a:r>
          </a:p>
          <a:p>
            <a:r>
              <a:rPr lang="en-US" sz="1000">
                <a:latin typeface="Consolas"/>
              </a:rPr>
              <a:t>def </a:t>
            </a:r>
            <a:r>
              <a:rPr lang="en-US" sz="1000" err="1">
                <a:latin typeface="Consolas"/>
              </a:rPr>
              <a:t>get_connection</a:t>
            </a:r>
            <a:r>
              <a:rPr lang="en-US" sz="1000">
                <a:latin typeface="Consolas"/>
              </a:rPr>
              <a:t>():</a:t>
            </a:r>
          </a:p>
          <a:p>
            <a:r>
              <a:rPr lang="en-US" sz="1000">
                <a:latin typeface="Consolas"/>
              </a:rPr>
              <a:t>    return psycopg2.connect(</a:t>
            </a:r>
          </a:p>
          <a:p>
            <a:r>
              <a:rPr lang="en-US" sz="1000">
                <a:latin typeface="Consolas"/>
              </a:rPr>
              <a:t>        host=DB_HOST,</a:t>
            </a:r>
          </a:p>
          <a:p>
            <a:r>
              <a:rPr lang="en-US" sz="1000">
                <a:latin typeface="Consolas"/>
              </a:rPr>
              <a:t>        </a:t>
            </a:r>
            <a:r>
              <a:rPr lang="en-US" sz="1000" err="1">
                <a:latin typeface="Consolas"/>
              </a:rPr>
              <a:t>dbname</a:t>
            </a:r>
            <a:r>
              <a:rPr lang="en-US" sz="1000">
                <a:latin typeface="Consolas"/>
              </a:rPr>
              <a:t>=DB_NAME,</a:t>
            </a:r>
          </a:p>
          <a:p>
            <a:r>
              <a:rPr lang="en-US" sz="1000">
                <a:latin typeface="Consolas"/>
              </a:rPr>
              <a:t>        user=DB_USER,</a:t>
            </a:r>
          </a:p>
          <a:p>
            <a:r>
              <a:rPr lang="en-US" sz="1000">
                <a:latin typeface="Consolas"/>
              </a:rPr>
              <a:t>        password=DB_PASSWORD,</a:t>
            </a:r>
          </a:p>
          <a:p>
            <a:r>
              <a:rPr lang="en-US" sz="1000">
                <a:latin typeface="Consolas"/>
              </a:rPr>
              <a:t>        </a:t>
            </a:r>
            <a:r>
              <a:rPr lang="en-US" sz="1000" err="1">
                <a:latin typeface="Consolas"/>
              </a:rPr>
              <a:t>connect_timeout</a:t>
            </a:r>
            <a:r>
              <a:rPr lang="en-US" sz="1000">
                <a:latin typeface="Consolas"/>
              </a:rPr>
              <a:t>=3,</a:t>
            </a:r>
          </a:p>
          <a:p>
            <a:r>
              <a:rPr lang="en-US" sz="1000">
                <a:latin typeface="Consolas"/>
              </a:rPr>
              <a:t>    )</a:t>
            </a:r>
          </a:p>
          <a:p>
            <a:endParaRPr lang="en-US" sz="1000">
              <a:latin typeface="Aptos"/>
            </a:endParaRPr>
          </a:p>
          <a:p>
            <a:endParaRPr lang="en-US" sz="1000">
              <a:latin typeface="Aptos"/>
            </a:endParaRPr>
          </a:p>
          <a:p>
            <a:r>
              <a:rPr lang="en-US" sz="1000">
                <a:latin typeface="Consolas"/>
              </a:rPr>
              <a:t>                )</a:t>
            </a:r>
          </a:p>
          <a:p>
            <a:r>
              <a:rPr lang="en-US" sz="1000">
                <a:latin typeface="Consolas"/>
              </a:rPr>
              <a:t>            """)</a:t>
            </a:r>
          </a:p>
          <a:p>
            <a:endParaRPr lang="en-US" sz="105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895753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0BEDD9-9BA8-AB03-0F6C-37FDD16EACFF}"/>
              </a:ext>
            </a:extLst>
          </p:cNvPr>
          <p:cNvSpPr txBox="1"/>
          <p:nvPr/>
        </p:nvSpPr>
        <p:spPr>
          <a:xfrm>
            <a:off x="17410" y="8706"/>
            <a:ext cx="5663229" cy="64017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latin typeface="Consolas"/>
              </a:rPr>
              <a:t>def </a:t>
            </a:r>
            <a:r>
              <a:rPr lang="en-US" sz="1000" err="1">
                <a:latin typeface="Consolas"/>
              </a:rPr>
              <a:t>initialize_table</a:t>
            </a:r>
            <a:r>
              <a:rPr lang="en-US" sz="1000">
                <a:latin typeface="Consolas"/>
              </a:rPr>
              <a:t>():</a:t>
            </a:r>
          </a:p>
          <a:p>
            <a:r>
              <a:rPr lang="en-US" sz="1000">
                <a:latin typeface="Consolas"/>
              </a:rPr>
              <a:t>    with </a:t>
            </a:r>
            <a:r>
              <a:rPr lang="en-US" sz="1000" err="1">
                <a:latin typeface="Consolas"/>
              </a:rPr>
              <a:t>get_connection</a:t>
            </a:r>
            <a:r>
              <a:rPr lang="en-US" sz="1000">
                <a:latin typeface="Consolas"/>
              </a:rPr>
              <a:t>() as conn:</a:t>
            </a:r>
          </a:p>
          <a:p>
            <a:r>
              <a:rPr lang="en-US" sz="1000">
                <a:latin typeface="Consolas"/>
              </a:rPr>
              <a:t>        with </a:t>
            </a:r>
            <a:r>
              <a:rPr lang="en-US" sz="1000" err="1">
                <a:latin typeface="Consolas"/>
              </a:rPr>
              <a:t>conn.cursor</a:t>
            </a:r>
            <a:r>
              <a:rPr lang="en-US" sz="1000">
                <a:latin typeface="Consolas"/>
              </a:rPr>
              <a:t>() as cur:</a:t>
            </a:r>
          </a:p>
          <a:p>
            <a:r>
              <a:rPr lang="en-US" sz="1000">
                <a:latin typeface="Consolas"/>
              </a:rPr>
              <a:t>            </a:t>
            </a:r>
            <a:r>
              <a:rPr lang="en-US" sz="1000" err="1">
                <a:latin typeface="Consolas"/>
              </a:rPr>
              <a:t>cur.execute</a:t>
            </a:r>
            <a:r>
              <a:rPr lang="en-US" sz="1000">
                <a:latin typeface="Consolas"/>
              </a:rPr>
              <a:t>("""</a:t>
            </a:r>
          </a:p>
          <a:p>
            <a:r>
              <a:rPr lang="en-US" sz="1000">
                <a:latin typeface="Consolas"/>
              </a:rPr>
              <a:t>                CREATE TABLE IF NOT EXISTS notes (</a:t>
            </a:r>
          </a:p>
          <a:p>
            <a:r>
              <a:rPr lang="en-US" sz="1000">
                <a:latin typeface="Consolas"/>
              </a:rPr>
              <a:t>                    id SERIAL PRIMARY KEY,</a:t>
            </a:r>
          </a:p>
          <a:p>
            <a:r>
              <a:rPr lang="en-US" sz="1000">
                <a:latin typeface="Consolas"/>
              </a:rPr>
              <a:t>                    content TEXT NOT NULL,</a:t>
            </a:r>
          </a:p>
          <a:p>
            <a:r>
              <a:rPr lang="en-US" sz="1000">
                <a:latin typeface="Consolas"/>
              </a:rPr>
              <a:t>                    </a:t>
            </a:r>
            <a:r>
              <a:rPr lang="en-US" sz="1000" err="1">
                <a:latin typeface="Consolas"/>
              </a:rPr>
              <a:t>created_at</a:t>
            </a:r>
            <a:r>
              <a:rPr lang="en-US" sz="1000">
                <a:latin typeface="Consolas"/>
              </a:rPr>
              <a:t> TIMESTAMP DEFAULT CURRENT_TIMESTAMP</a:t>
            </a:r>
          </a:p>
          <a:p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</a:rPr>
              <a:t>@app.get("/health")</a:t>
            </a:r>
            <a:endParaRPr lang="en-US"/>
          </a:p>
          <a:p>
            <a:r>
              <a:rPr lang="en-US" sz="1000">
                <a:latin typeface="Consolas"/>
              </a:rPr>
              <a:t>def health():</a:t>
            </a:r>
          </a:p>
          <a:p>
            <a:r>
              <a:rPr lang="en-US" sz="1000">
                <a:latin typeface="Consolas"/>
              </a:rPr>
              <a:t>    try:</a:t>
            </a:r>
          </a:p>
          <a:p>
            <a:r>
              <a:rPr lang="en-US" sz="1000">
                <a:latin typeface="Consolas"/>
              </a:rPr>
              <a:t>        </a:t>
            </a:r>
            <a:r>
              <a:rPr lang="en-US" sz="1000" err="1">
                <a:latin typeface="Consolas"/>
              </a:rPr>
              <a:t>initialize_table</a:t>
            </a:r>
            <a:r>
              <a:rPr lang="en-US" sz="1000">
                <a:latin typeface="Consolas"/>
              </a:rPr>
              <a:t>()</a:t>
            </a:r>
          </a:p>
          <a:p>
            <a:r>
              <a:rPr lang="en-US" sz="1000">
                <a:latin typeface="Consolas"/>
              </a:rPr>
              <a:t>        return </a:t>
            </a:r>
            <a:r>
              <a:rPr lang="en-US" sz="1000" err="1">
                <a:latin typeface="Consolas"/>
              </a:rPr>
              <a:t>jsonify</a:t>
            </a:r>
            <a:r>
              <a:rPr lang="en-US" sz="1000">
                <a:latin typeface="Consolas"/>
              </a:rPr>
              <a:t>(status="ok", database="connected")</a:t>
            </a:r>
          </a:p>
          <a:p>
            <a:r>
              <a:rPr lang="en-US" sz="1000">
                <a:latin typeface="Consolas"/>
              </a:rPr>
              <a:t>    except Exception:</a:t>
            </a:r>
          </a:p>
          <a:p>
            <a:r>
              <a:rPr lang="en-US" sz="1000">
                <a:latin typeface="Consolas"/>
              </a:rPr>
              <a:t>        </a:t>
            </a:r>
            <a:r>
              <a:rPr lang="en-US" sz="1000" err="1">
                <a:latin typeface="Consolas"/>
              </a:rPr>
              <a:t>app.logger.exception</a:t>
            </a:r>
            <a:r>
              <a:rPr lang="en-US" sz="1000">
                <a:latin typeface="Consolas"/>
              </a:rPr>
              <a:t>("Database health check failed")</a:t>
            </a:r>
          </a:p>
          <a:p>
            <a:r>
              <a:rPr lang="en-US" sz="1000">
                <a:latin typeface="Consolas"/>
              </a:rPr>
              <a:t>        return </a:t>
            </a:r>
            <a:r>
              <a:rPr lang="en-US" sz="1000" err="1">
                <a:latin typeface="Consolas"/>
              </a:rPr>
              <a:t>jsonify</a:t>
            </a:r>
            <a:r>
              <a:rPr lang="en-US" sz="1000">
                <a:latin typeface="Consolas"/>
              </a:rPr>
              <a:t>(status="error", database="unavailable"), 503</a:t>
            </a:r>
          </a:p>
          <a:p>
            <a:endParaRPr lang="en-US" sz="1000"/>
          </a:p>
          <a:p>
            <a:endParaRPr lang="en-US" sz="1000"/>
          </a:p>
          <a:p>
            <a:r>
              <a:rPr lang="en-US" sz="1000">
                <a:latin typeface="Consolas"/>
              </a:rPr>
              <a:t>@app.get("/notes")</a:t>
            </a:r>
          </a:p>
          <a:p>
            <a:r>
              <a:rPr lang="en-US" sz="1000">
                <a:latin typeface="Consolas"/>
              </a:rPr>
              <a:t>def </a:t>
            </a:r>
            <a:r>
              <a:rPr lang="en-US" sz="1000" err="1">
                <a:latin typeface="Consolas"/>
              </a:rPr>
              <a:t>list_notes</a:t>
            </a:r>
            <a:r>
              <a:rPr lang="en-US" sz="1000">
                <a:latin typeface="Consolas"/>
              </a:rPr>
              <a:t>():</a:t>
            </a:r>
          </a:p>
          <a:p>
            <a:r>
              <a:rPr lang="en-US" sz="1000">
                <a:latin typeface="Consolas"/>
              </a:rPr>
              <a:t>    try:</a:t>
            </a:r>
          </a:p>
          <a:p>
            <a:r>
              <a:rPr lang="en-US" sz="1000">
                <a:latin typeface="Consolas"/>
              </a:rPr>
              <a:t>        </a:t>
            </a:r>
            <a:r>
              <a:rPr lang="en-US" sz="1000" err="1">
                <a:latin typeface="Consolas"/>
              </a:rPr>
              <a:t>initialize_table</a:t>
            </a:r>
            <a:r>
              <a:rPr lang="en-US" sz="1000">
                <a:latin typeface="Consolas"/>
              </a:rPr>
              <a:t>()</a:t>
            </a:r>
          </a:p>
          <a:p>
            <a:r>
              <a:rPr lang="en-US" sz="1000">
                <a:latin typeface="Consolas"/>
              </a:rPr>
              <a:t>        with </a:t>
            </a:r>
            <a:r>
              <a:rPr lang="en-US" sz="1000" err="1">
                <a:latin typeface="Consolas"/>
              </a:rPr>
              <a:t>get_connection</a:t>
            </a:r>
            <a:r>
              <a:rPr lang="en-US" sz="1000">
                <a:latin typeface="Consolas"/>
              </a:rPr>
              <a:t>() as conn:</a:t>
            </a:r>
          </a:p>
          <a:p>
            <a:r>
              <a:rPr lang="en-US" sz="1000">
                <a:latin typeface="Consolas"/>
              </a:rPr>
              <a:t>            with </a:t>
            </a:r>
            <a:r>
              <a:rPr lang="en-US" sz="1000" err="1">
                <a:latin typeface="Consolas"/>
              </a:rPr>
              <a:t>conn.cursor</a:t>
            </a:r>
            <a:r>
              <a:rPr lang="en-US" sz="1000">
                <a:latin typeface="Consolas"/>
              </a:rPr>
              <a:t>(</a:t>
            </a:r>
            <a:r>
              <a:rPr lang="en-US" sz="1000" err="1">
                <a:latin typeface="Consolas"/>
              </a:rPr>
              <a:t>cursor_factory</a:t>
            </a:r>
            <a:r>
              <a:rPr lang="en-US" sz="1000">
                <a:latin typeface="Consolas"/>
              </a:rPr>
              <a:t>=</a:t>
            </a:r>
            <a:r>
              <a:rPr lang="en-US" sz="1000" err="1">
                <a:latin typeface="Consolas"/>
              </a:rPr>
              <a:t>RealDictCursor</a:t>
            </a:r>
            <a:r>
              <a:rPr lang="en-US" sz="1000">
                <a:latin typeface="Consolas"/>
              </a:rPr>
              <a:t>) as cur:</a:t>
            </a:r>
          </a:p>
          <a:p>
            <a:r>
              <a:rPr lang="en-US" sz="1000">
                <a:latin typeface="Consolas"/>
              </a:rPr>
              <a:t>                </a:t>
            </a:r>
            <a:r>
              <a:rPr lang="en-US" sz="1000" err="1">
                <a:latin typeface="Consolas"/>
              </a:rPr>
              <a:t>cur.execute</a:t>
            </a:r>
            <a:r>
              <a:rPr lang="en-US" sz="1000">
                <a:latin typeface="Consolas"/>
              </a:rPr>
              <a:t>(</a:t>
            </a:r>
          </a:p>
          <a:p>
            <a:r>
              <a:rPr lang="en-US" sz="1000">
                <a:latin typeface="Consolas"/>
              </a:rPr>
              <a:t>                    "SELECT id, content, </a:t>
            </a:r>
            <a:r>
              <a:rPr lang="en-US" sz="1000" err="1">
                <a:latin typeface="Consolas"/>
              </a:rPr>
              <a:t>created_at</a:t>
            </a:r>
            <a:r>
              <a:rPr lang="en-US" sz="1000">
                <a:latin typeface="Consolas"/>
              </a:rPr>
              <a:t> FROM notes ORDER BY id"</a:t>
            </a:r>
          </a:p>
          <a:p>
            <a:r>
              <a:rPr lang="en-US" sz="1000">
                <a:latin typeface="Consolas"/>
              </a:rPr>
              <a:t>                )</a:t>
            </a:r>
          </a:p>
          <a:p>
            <a:r>
              <a:rPr lang="en-US" sz="1000">
                <a:latin typeface="Consolas"/>
              </a:rPr>
              <a:t>                rows = </a:t>
            </a:r>
            <a:r>
              <a:rPr lang="en-US" sz="1000" err="1">
                <a:latin typeface="Consolas"/>
              </a:rPr>
              <a:t>cur.fetchall</a:t>
            </a:r>
            <a:r>
              <a:rPr lang="en-US" sz="1000">
                <a:latin typeface="Consolas"/>
              </a:rPr>
              <a:t>()</a:t>
            </a:r>
          </a:p>
          <a:p>
            <a:r>
              <a:rPr lang="en-US" sz="1000">
                <a:latin typeface="Consolas"/>
              </a:rPr>
              <a:t>        return </a:t>
            </a:r>
            <a:r>
              <a:rPr lang="en-US" sz="1000" err="1">
                <a:latin typeface="Consolas"/>
              </a:rPr>
              <a:t>jsonify</a:t>
            </a:r>
            <a:r>
              <a:rPr lang="en-US" sz="1000">
                <a:latin typeface="Consolas"/>
              </a:rPr>
              <a:t>(rows)</a:t>
            </a:r>
          </a:p>
          <a:p>
            <a:r>
              <a:rPr lang="en-US" sz="1000">
                <a:latin typeface="Consolas"/>
              </a:rPr>
              <a:t>    except Exception:</a:t>
            </a:r>
          </a:p>
          <a:p>
            <a:r>
              <a:rPr lang="en-US" sz="1000">
                <a:latin typeface="Consolas"/>
              </a:rPr>
              <a:t>        </a:t>
            </a:r>
            <a:r>
              <a:rPr lang="en-US" sz="1000" err="1">
                <a:latin typeface="Consolas"/>
              </a:rPr>
              <a:t>app.logger.exception</a:t>
            </a:r>
            <a:r>
              <a:rPr lang="en-US" sz="1000">
                <a:latin typeface="Consolas"/>
              </a:rPr>
              <a:t>("Unable to read notes")</a:t>
            </a:r>
          </a:p>
          <a:p>
            <a:r>
              <a:rPr lang="en-US" sz="1000">
                <a:latin typeface="Consolas"/>
              </a:rPr>
              <a:t>        return </a:t>
            </a:r>
            <a:r>
              <a:rPr lang="en-US" sz="1000" err="1">
                <a:latin typeface="Consolas"/>
              </a:rPr>
              <a:t>jsonify</a:t>
            </a:r>
            <a:r>
              <a:rPr lang="en-US" sz="1000">
                <a:latin typeface="Consolas"/>
              </a:rPr>
              <a:t>(error="Database unavailable"), 503</a:t>
            </a:r>
          </a:p>
          <a:p>
            <a:endParaRPr lang="en-US" sz="1000"/>
          </a:p>
          <a:p>
            <a:endParaRPr lang="en-US" sz="1000"/>
          </a:p>
          <a:p>
            <a:r>
              <a:rPr lang="en-US" sz="1000">
                <a:latin typeface="Consolas"/>
              </a:rPr>
              <a:t>@app.post("/notes")</a:t>
            </a:r>
          </a:p>
          <a:p>
            <a:r>
              <a:rPr lang="en-US" sz="1000">
                <a:latin typeface="Consolas"/>
              </a:rPr>
              <a:t>def </a:t>
            </a:r>
            <a:r>
              <a:rPr lang="en-US" sz="1000" err="1">
                <a:latin typeface="Consolas"/>
              </a:rPr>
              <a:t>create_note</a:t>
            </a:r>
            <a:r>
              <a:rPr lang="en-US" sz="1000">
                <a:latin typeface="Consolas"/>
              </a:rPr>
              <a:t>():</a:t>
            </a:r>
          </a:p>
          <a:p>
            <a:r>
              <a:rPr lang="en-US" sz="1000">
                <a:latin typeface="Consolas"/>
              </a:rPr>
              <a:t>    body = </a:t>
            </a:r>
            <a:r>
              <a:rPr lang="en-US" sz="1000" err="1">
                <a:latin typeface="Consolas"/>
              </a:rPr>
              <a:t>request.get_json</a:t>
            </a:r>
            <a:r>
              <a:rPr lang="en-US" sz="1000">
                <a:latin typeface="Consolas"/>
              </a:rPr>
              <a:t>(silent=True) or {}</a:t>
            </a:r>
          </a:p>
          <a:p>
            <a:r>
              <a:rPr lang="en-US" sz="1000">
                <a:latin typeface="Consolas"/>
              </a:rPr>
              <a:t>    content = </a:t>
            </a:r>
            <a:r>
              <a:rPr lang="en-US" sz="1000" err="1">
                <a:latin typeface="Consolas"/>
              </a:rPr>
              <a:t>body.get</a:t>
            </a:r>
            <a:r>
              <a:rPr lang="en-US" sz="1000">
                <a:latin typeface="Consolas"/>
              </a:rPr>
              <a:t>("content")</a:t>
            </a:r>
          </a:p>
          <a:p>
            <a:endParaRPr lang="en-US" sz="1000"/>
          </a:p>
          <a:p>
            <a:r>
              <a:rPr lang="en-US" sz="1000">
                <a:latin typeface="Consolas"/>
              </a:rPr>
              <a:t>   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6E3BD3-6FB5-3E78-75AD-37D9D2A58DED}"/>
              </a:ext>
            </a:extLst>
          </p:cNvPr>
          <p:cNvSpPr txBox="1"/>
          <p:nvPr/>
        </p:nvSpPr>
        <p:spPr>
          <a:xfrm>
            <a:off x="6096000" y="404267"/>
            <a:ext cx="6096000" cy="39087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1000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if not isinstance(content, str) or not content.strip():</a:t>
            </a:r>
            <a:r>
              <a:rPr lang="en-US" sz="1000">
                <a:latin typeface="Consolas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000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       return jsonify(error="Provide a non-empty content field"), 400</a:t>
            </a:r>
            <a:r>
              <a:rPr lang="en-US" sz="1000">
                <a:latin typeface="Consolas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000">
                <a:latin typeface="Aptos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000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   try:</a:t>
            </a:r>
            <a:r>
              <a:rPr lang="en-US" sz="1000">
                <a:latin typeface="Consolas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000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       initialize_table()</a:t>
            </a:r>
            <a:r>
              <a:rPr lang="en-US" sz="1000">
                <a:latin typeface="Consolas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000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       with get_connection() as conn:</a:t>
            </a:r>
            <a:r>
              <a:rPr lang="en-US" sz="1000">
                <a:latin typeface="Consolas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000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           with conn.cursor(cursor_factory=RealDictCursor) as cur:</a:t>
            </a:r>
            <a:r>
              <a:rPr lang="en-US" sz="1000">
                <a:latin typeface="Consolas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000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               cur.execute(</a:t>
            </a:r>
            <a:r>
              <a:rPr lang="en-US" sz="1000">
                <a:latin typeface="Consolas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000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                   "INSERT INTO notes (content) VALUES (%s) "</a:t>
            </a:r>
            <a:r>
              <a:rPr lang="en-US" sz="1000">
                <a:latin typeface="Consolas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000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                   "RETURNING id, content, created_at",</a:t>
            </a:r>
            <a:r>
              <a:rPr lang="en-US" sz="1000">
                <a:latin typeface="Consolas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000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                   (content.strip(),),</a:t>
            </a:r>
            <a:r>
              <a:rPr lang="en-US" sz="1000">
                <a:latin typeface="Consolas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000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               )</a:t>
            </a:r>
            <a:r>
              <a:rPr lang="en-US" sz="1000">
                <a:latin typeface="Consolas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000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               row = cur.fetchone()</a:t>
            </a:r>
            <a:r>
              <a:rPr lang="en-US" sz="1000">
                <a:latin typeface="Consolas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000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       return jsonify(row), 201</a:t>
            </a:r>
            <a:r>
              <a:rPr lang="en-US" sz="1000">
                <a:latin typeface="Consolas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000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   except Exception:</a:t>
            </a:r>
            <a:r>
              <a:rPr lang="en-US" sz="1000">
                <a:latin typeface="Consolas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000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       app.logger.exception("Unable to create note")</a:t>
            </a:r>
            <a:r>
              <a:rPr lang="en-US" sz="1000">
                <a:latin typeface="Consolas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000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       return jsonify(error="Database unavailable"), 503</a:t>
            </a:r>
            <a:r>
              <a:rPr lang="en-US" sz="1000">
                <a:latin typeface="Consolas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000">
                <a:latin typeface="Aptos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000">
                <a:latin typeface="Aptos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000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if __name__ == "__main__":</a:t>
            </a:r>
            <a:r>
              <a:rPr lang="en-US" sz="1000">
                <a:latin typeface="Consolas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000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   app.run(host="0.0.0.0", port=5000)</a:t>
            </a:r>
            <a:r>
              <a:rPr lang="en-US" sz="1000">
                <a:latin typeface="Consolas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000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EOF</a:t>
            </a:r>
            <a:r>
              <a:rPr lang="en-US" sz="1000">
                <a:latin typeface="Consolas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000">
                <a:latin typeface="Consolas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029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84C24B-9AD4-9997-0903-99DC29B70573}"/>
              </a:ext>
            </a:extLst>
          </p:cNvPr>
          <p:cNvSpPr txBox="1"/>
          <p:nvPr/>
        </p:nvSpPr>
        <p:spPr>
          <a:xfrm>
            <a:off x="203490" y="247095"/>
            <a:ext cx="11730145" cy="50475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ea typeface="+mn-lt"/>
                <a:cs typeface="+mn-lt"/>
              </a:rPr>
              <a:t>3.2 Create </a:t>
            </a:r>
            <a:r>
              <a:rPr lang="en-US" sz="1000">
                <a:latin typeface="Consolas"/>
              </a:rPr>
              <a:t>app/requirements.txt</a:t>
            </a:r>
          </a:p>
          <a:p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</a:rPr>
              <a:t>cat &gt; app/requirements.txt &lt;&lt;'EOF'</a:t>
            </a:r>
            <a:endParaRPr lang="en-US" sz="1000"/>
          </a:p>
          <a:p>
            <a:r>
              <a:rPr lang="en-US" sz="1000">
                <a:latin typeface="Consolas"/>
              </a:rPr>
              <a:t>Flask&gt;=3.1,&lt;4</a:t>
            </a:r>
            <a:endParaRPr lang="en-US" sz="1000"/>
          </a:p>
          <a:p>
            <a:r>
              <a:rPr lang="en-US" sz="1000">
                <a:latin typeface="Consolas"/>
              </a:rPr>
              <a:t>psycopg2-binary&gt;=2.9,&lt;3</a:t>
            </a:r>
            <a:endParaRPr lang="en-US" sz="1000"/>
          </a:p>
          <a:p>
            <a:r>
              <a:rPr lang="en-US" sz="1000" err="1">
                <a:latin typeface="Consolas"/>
              </a:rPr>
              <a:t>gunicorn</a:t>
            </a:r>
            <a:r>
              <a:rPr lang="en-US" sz="1000">
                <a:latin typeface="Consolas"/>
              </a:rPr>
              <a:t>&gt;=23,&lt;24</a:t>
            </a:r>
            <a:endParaRPr lang="en-US" sz="1000"/>
          </a:p>
          <a:p>
            <a:r>
              <a:rPr lang="en-US" sz="1000">
                <a:latin typeface="Consolas"/>
              </a:rPr>
              <a:t>EOF</a:t>
            </a:r>
          </a:p>
          <a:p>
            <a:r>
              <a:rPr lang="en-US" sz="1400" b="1">
                <a:latin typeface="Consolas"/>
              </a:rPr>
              <a:t>3.3: </a:t>
            </a:r>
            <a:r>
              <a:rPr lang="en-US" sz="1400" b="1">
                <a:ea typeface="+mn-lt"/>
                <a:cs typeface="+mn-lt"/>
              </a:rPr>
              <a:t>Create </a:t>
            </a:r>
            <a:r>
              <a:rPr lang="en-US" sz="1400" b="1">
                <a:latin typeface="Consolas"/>
              </a:rPr>
              <a:t>app/</a:t>
            </a:r>
            <a:r>
              <a:rPr lang="en-US" sz="1400" b="1" err="1">
                <a:latin typeface="Consolas"/>
              </a:rPr>
              <a:t>Dockerfile</a:t>
            </a:r>
          </a:p>
          <a:p>
            <a:r>
              <a:rPr lang="en-US" sz="1000">
                <a:latin typeface="Consolas"/>
              </a:rPr>
              <a:t>cat &gt; app/</a:t>
            </a:r>
            <a:r>
              <a:rPr lang="en-US" sz="1000" err="1">
                <a:latin typeface="Consolas"/>
              </a:rPr>
              <a:t>Dockerfile</a:t>
            </a:r>
            <a:r>
              <a:rPr lang="en-US" sz="1000">
                <a:latin typeface="Consolas"/>
              </a:rPr>
              <a:t> &lt;&lt;'EOF'</a:t>
            </a:r>
            <a:endParaRPr lang="en-US" sz="1000"/>
          </a:p>
          <a:p>
            <a:r>
              <a:rPr lang="en-US" sz="1000">
                <a:latin typeface="Consolas"/>
              </a:rPr>
              <a:t>FROM python:3.12-slim</a:t>
            </a:r>
            <a:endParaRPr lang="en-US" sz="1000"/>
          </a:p>
          <a:p>
            <a:endParaRPr lang="en-US" sz="1000"/>
          </a:p>
          <a:p>
            <a:r>
              <a:rPr lang="en-US" sz="1000">
                <a:latin typeface="Consolas"/>
              </a:rPr>
              <a:t>ENV PYTHONDONTWRITEBYTECODE=1</a:t>
            </a:r>
            <a:endParaRPr lang="en-US" sz="1000"/>
          </a:p>
          <a:p>
            <a:r>
              <a:rPr lang="en-US" sz="1000">
                <a:latin typeface="Consolas"/>
              </a:rPr>
              <a:t>ENV PYTHONUNBUFFERED=1</a:t>
            </a:r>
            <a:endParaRPr lang="en-US" sz="1000"/>
          </a:p>
          <a:p>
            <a:endParaRPr lang="en-US" sz="1000"/>
          </a:p>
          <a:p>
            <a:r>
              <a:rPr lang="en-US" sz="1000">
                <a:latin typeface="Consolas"/>
              </a:rPr>
              <a:t>WORKDIR /app</a:t>
            </a:r>
            <a:endParaRPr lang="en-US" sz="1000"/>
          </a:p>
          <a:p>
            <a:endParaRPr lang="en-US" sz="1000"/>
          </a:p>
          <a:p>
            <a:r>
              <a:rPr lang="en-US" sz="1000">
                <a:latin typeface="Consolas"/>
              </a:rPr>
              <a:t>COPY requirements.txt .</a:t>
            </a:r>
            <a:endParaRPr lang="en-US" sz="1000"/>
          </a:p>
          <a:p>
            <a:r>
              <a:rPr lang="en-US" sz="1000">
                <a:latin typeface="Consolas"/>
              </a:rPr>
              <a:t>RUN pip install --no-cache-</a:t>
            </a:r>
            <a:r>
              <a:rPr lang="en-US" sz="1000" err="1">
                <a:latin typeface="Consolas"/>
              </a:rPr>
              <a:t>dir</a:t>
            </a:r>
            <a:r>
              <a:rPr lang="en-US" sz="1000">
                <a:latin typeface="Consolas"/>
              </a:rPr>
              <a:t> -r requirements.txt</a:t>
            </a:r>
            <a:endParaRPr lang="en-US" sz="1000"/>
          </a:p>
          <a:p>
            <a:endParaRPr lang="en-US" sz="1000"/>
          </a:p>
          <a:p>
            <a:r>
              <a:rPr lang="en-US" sz="1000">
                <a:latin typeface="Consolas"/>
              </a:rPr>
              <a:t>COPY app.py .</a:t>
            </a:r>
            <a:endParaRPr lang="en-US" sz="1000"/>
          </a:p>
          <a:p>
            <a:endParaRPr lang="en-US" sz="1000"/>
          </a:p>
          <a:p>
            <a:r>
              <a:rPr lang="en-US" sz="1000">
                <a:latin typeface="Consolas"/>
              </a:rPr>
              <a:t>EXPOSE 5000</a:t>
            </a:r>
            <a:endParaRPr lang="en-US" sz="1000"/>
          </a:p>
          <a:p>
            <a:endParaRPr lang="en-US" sz="1000"/>
          </a:p>
          <a:p>
            <a:r>
              <a:rPr lang="en-US" sz="1000">
                <a:latin typeface="Consolas"/>
              </a:rPr>
              <a:t>CMD ["</a:t>
            </a:r>
            <a:r>
              <a:rPr lang="en-US" sz="1000" err="1">
                <a:latin typeface="Consolas"/>
              </a:rPr>
              <a:t>gunicorn</a:t>
            </a:r>
            <a:r>
              <a:rPr lang="en-US" sz="1000">
                <a:latin typeface="Consolas"/>
              </a:rPr>
              <a:t>", "--bind", "0.0.0.0:5000", "--workers", "2", "--access-logfile", "-", "</a:t>
            </a:r>
            <a:r>
              <a:rPr lang="en-US" sz="1000" err="1">
                <a:latin typeface="Consolas"/>
              </a:rPr>
              <a:t>app:app</a:t>
            </a:r>
            <a:r>
              <a:rPr lang="en-US" sz="1000">
                <a:latin typeface="Consolas"/>
              </a:rPr>
              <a:t>"]</a:t>
            </a:r>
            <a:endParaRPr lang="en-US" sz="1000"/>
          </a:p>
          <a:p>
            <a:r>
              <a:rPr lang="en-US" sz="1000">
                <a:latin typeface="Consolas"/>
              </a:rPr>
              <a:t>EOF</a:t>
            </a:r>
            <a:endParaRPr lang="en-US" sz="1000">
              <a:latin typeface="Aptos" panose="02110004020202020204"/>
            </a:endParaRPr>
          </a:p>
          <a:p>
            <a:r>
              <a:rPr lang="en-US"/>
              <a:t>3.4 Build the application image</a:t>
            </a:r>
          </a:p>
          <a:p>
            <a:r>
              <a:rPr lang="en-US" sz="1000">
                <a:ea typeface="+mn-lt"/>
                <a:cs typeface="+mn-lt"/>
              </a:rPr>
              <a:t>Make sure Docker Desktop is running.</a:t>
            </a:r>
            <a:endParaRPr lang="en-US"/>
          </a:p>
          <a:p>
            <a:endParaRPr lang="en-US" sz="1000">
              <a:ea typeface="+mn-lt"/>
              <a:cs typeface="+mn-lt"/>
            </a:endParaRPr>
          </a:p>
          <a:p>
            <a:r>
              <a:rPr lang="en-US" sz="1000">
                <a:latin typeface="Aptos"/>
              </a:rPr>
              <a:t>docker build -t devops-notes-api:1.0 ./app</a:t>
            </a:r>
            <a:endParaRPr lang="en-US"/>
          </a:p>
          <a:p>
            <a:endParaRPr lang="en-US" sz="1000">
              <a:latin typeface="Consola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FBD7B9-E256-DE4A-F4E2-11342EE82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87923"/>
            <a:ext cx="12192000" cy="206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624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4698894-7518-B30A-E797-D02777BD9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3124"/>
            <a:ext cx="12192000" cy="17914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1B50F3-0336-11E2-F8C2-A836E4AB56C6}"/>
              </a:ext>
            </a:extLst>
          </p:cNvPr>
          <p:cNvSpPr txBox="1"/>
          <p:nvPr/>
        </p:nvSpPr>
        <p:spPr>
          <a:xfrm>
            <a:off x="247095" y="305235"/>
            <a:ext cx="1142767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Check , images is created or not, using docker images, </a:t>
            </a:r>
            <a:r>
              <a:rPr lang="en-US">
                <a:ea typeface="+mn-lt"/>
                <a:cs typeface="+mn-lt"/>
              </a:rPr>
              <a:t>You should see </a:t>
            </a:r>
            <a:r>
              <a:rPr lang="en-US" err="1">
                <a:latin typeface="Consolas"/>
              </a:rPr>
              <a:t>devops</a:t>
            </a:r>
            <a:r>
              <a:rPr lang="en-US">
                <a:latin typeface="Consolas"/>
              </a:rPr>
              <a:t>-notes-</a:t>
            </a:r>
            <a:r>
              <a:rPr lang="en-US" err="1">
                <a:latin typeface="Consolas"/>
              </a:rPr>
              <a:t>api</a:t>
            </a:r>
            <a:r>
              <a:rPr lang="en-US">
                <a:ea typeface="+mn-lt"/>
                <a:cs typeface="+mn-lt"/>
              </a:rPr>
              <a:t> with tag </a:t>
            </a:r>
            <a:r>
              <a:rPr lang="en-US">
                <a:latin typeface="Consolas"/>
              </a:rPr>
              <a:t>1.0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E3551F-687C-771B-D031-A8D8C3B3FC57}"/>
              </a:ext>
            </a:extLst>
          </p:cNvPr>
          <p:cNvSpPr txBox="1"/>
          <p:nvPr/>
        </p:nvSpPr>
        <p:spPr>
          <a:xfrm>
            <a:off x="116280" y="2950614"/>
            <a:ext cx="11893015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Phase 4: Create the Kubernetes namespace</a:t>
            </a:r>
          </a:p>
          <a:p>
            <a:r>
              <a:rPr lang="en-US">
                <a:ea typeface="+mn-lt"/>
                <a:cs typeface="+mn-lt"/>
              </a:rPr>
              <a:t>A namespace keeps all assignment resources grouped together</a:t>
            </a:r>
            <a:endParaRPr lang="en-US"/>
          </a:p>
          <a:p>
            <a:endParaRPr lang="en-US"/>
          </a:p>
          <a:p>
            <a:r>
              <a:rPr lang="en-US"/>
              <a:t>cat &gt; k8s/</a:t>
            </a:r>
            <a:r>
              <a:rPr lang="en-US" err="1"/>
              <a:t>namespace.yaml</a:t>
            </a:r>
            <a:r>
              <a:rPr lang="en-US"/>
              <a:t> &lt;&lt;'EOF'</a:t>
            </a:r>
          </a:p>
          <a:p>
            <a:r>
              <a:rPr lang="en-US" err="1"/>
              <a:t>apiVersion</a:t>
            </a:r>
            <a:r>
              <a:rPr lang="en-US"/>
              <a:t>: v1</a:t>
            </a:r>
          </a:p>
          <a:p>
            <a:r>
              <a:rPr lang="en-US"/>
              <a:t>kind: Namespace</a:t>
            </a:r>
          </a:p>
          <a:p>
            <a:r>
              <a:rPr lang="en-US"/>
              <a:t>metadata:</a:t>
            </a:r>
          </a:p>
          <a:p>
            <a:r>
              <a:rPr lang="en-US"/>
              <a:t>  name: </a:t>
            </a:r>
            <a:r>
              <a:rPr lang="en-US" err="1"/>
              <a:t>devops</a:t>
            </a:r>
            <a:r>
              <a:rPr lang="en-US"/>
              <a:t>-assignment</a:t>
            </a:r>
          </a:p>
          <a:p>
            <a:r>
              <a:rPr lang="en-US"/>
              <a:t>EOF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660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745636-79FB-7DBA-3B9B-B73A7ED66912}"/>
              </a:ext>
            </a:extLst>
          </p:cNvPr>
          <p:cNvSpPr txBox="1"/>
          <p:nvPr/>
        </p:nvSpPr>
        <p:spPr>
          <a:xfrm>
            <a:off x="101745" y="145350"/>
            <a:ext cx="1190464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Apply it using </a:t>
            </a:r>
            <a:r>
              <a:rPr lang="en-US" err="1"/>
              <a:t>kubectl</a:t>
            </a:r>
            <a:r>
              <a:rPr lang="en-US"/>
              <a:t> apply -f k8s/</a:t>
            </a:r>
            <a:r>
              <a:rPr lang="en-US" err="1"/>
              <a:t>namespace.yaml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B9A85C-8D63-0A6E-BBB7-4E039FA1B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9376"/>
            <a:ext cx="12192000" cy="25236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A87E4-089C-2670-AFCF-2F7E34A5F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49094"/>
            <a:ext cx="12192000" cy="23085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960644-DB0B-FE44-DEF9-A0A9AB566FC8}"/>
              </a:ext>
            </a:extLst>
          </p:cNvPr>
          <p:cNvSpPr txBox="1"/>
          <p:nvPr/>
        </p:nvSpPr>
        <p:spPr>
          <a:xfrm>
            <a:off x="218025" y="3575621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Verify it</a:t>
            </a:r>
          </a:p>
        </p:txBody>
      </p:sp>
    </p:spTree>
    <p:extLst>
      <p:ext uri="{BB962C8B-B14F-4D97-AF65-F5344CB8AC3E}">
        <p14:creationId xmlns:p14="http://schemas.microsoft.com/office/powerpoint/2010/main" val="3206150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3547EE-18B6-24B6-03E2-EF14068760A7}"/>
              </a:ext>
            </a:extLst>
          </p:cNvPr>
          <p:cNvSpPr txBox="1"/>
          <p:nvPr/>
        </p:nvSpPr>
        <p:spPr>
          <a:xfrm>
            <a:off x="203490" y="159885"/>
            <a:ext cx="11834847" cy="60016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Phase 5: Configure persistent storage</a:t>
            </a:r>
            <a:endParaRPr lang="en-US" b="1"/>
          </a:p>
          <a:p>
            <a:r>
              <a:rPr lang="en-US">
                <a:ea typeface="+mn-lt"/>
                <a:cs typeface="+mn-lt"/>
              </a:rPr>
              <a:t>This is the main part of Task 2</a:t>
            </a:r>
            <a:endParaRPr lang="en-US"/>
          </a:p>
          <a:p>
            <a:r>
              <a:rPr lang="en-US">
                <a:ea typeface="+mn-lt"/>
                <a:cs typeface="+mn-lt"/>
              </a:rPr>
              <a:t>We'll explicitly create a </a:t>
            </a:r>
            <a:r>
              <a:rPr lang="en-US" err="1">
                <a:ea typeface="+mn-lt"/>
                <a:cs typeface="+mn-lt"/>
              </a:rPr>
              <a:t>StorageClass</a:t>
            </a:r>
            <a:r>
              <a:rPr lang="en-US">
                <a:ea typeface="+mn-lt"/>
                <a:cs typeface="+mn-lt"/>
              </a:rPr>
              <a:t> and a </a:t>
            </a:r>
            <a:r>
              <a:rPr lang="en-US" err="1">
                <a:ea typeface="+mn-lt"/>
                <a:cs typeface="+mn-lt"/>
              </a:rPr>
              <a:t>hostPath</a:t>
            </a:r>
            <a:r>
              <a:rPr lang="en-US">
                <a:ea typeface="+mn-lt"/>
                <a:cs typeface="+mn-lt"/>
              </a:rPr>
              <a:t>-backed </a:t>
            </a:r>
            <a:r>
              <a:rPr lang="en-US" err="1">
                <a:ea typeface="+mn-lt"/>
                <a:cs typeface="+mn-lt"/>
              </a:rPr>
              <a:t>PersistentVolume</a:t>
            </a:r>
            <a:r>
              <a:rPr lang="en-US">
                <a:ea typeface="+mn-lt"/>
                <a:cs typeface="+mn-lt"/>
              </a:rPr>
              <a:t> for your single-node development cluster. The directory is stored inside the Kubernetes node's filesystem, not directly on Mac. 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It survives PostgreSQL Pod recreation, but it is not a substitute for production-grade storage or backups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 b="1"/>
              <a:t>5.1: </a:t>
            </a:r>
            <a:r>
              <a:rPr lang="en-US" b="1">
                <a:ea typeface="+mn-lt"/>
                <a:cs typeface="+mn-lt"/>
              </a:rPr>
              <a:t>Create </a:t>
            </a:r>
            <a:r>
              <a:rPr lang="en-US" b="1">
                <a:latin typeface="Consolas"/>
              </a:rPr>
              <a:t>k8s/</a:t>
            </a:r>
            <a:r>
              <a:rPr lang="en-US" b="1" err="1">
                <a:latin typeface="Consolas"/>
              </a:rPr>
              <a:t>storage.yaml</a:t>
            </a:r>
            <a:endParaRPr lang="en-US" b="1">
              <a:latin typeface="Consolas"/>
            </a:endParaRPr>
          </a:p>
          <a:p>
            <a:r>
              <a:rPr lang="en-US" sz="1000">
                <a:latin typeface="Consolas"/>
              </a:rPr>
              <a:t>cat &gt; k8s/</a:t>
            </a:r>
            <a:r>
              <a:rPr lang="en-US" sz="1000" err="1">
                <a:latin typeface="Consolas"/>
              </a:rPr>
              <a:t>storage.yaml</a:t>
            </a:r>
            <a:r>
              <a:rPr lang="en-US" sz="1000">
                <a:latin typeface="Consolas"/>
              </a:rPr>
              <a:t> &lt;&lt;'EOF'</a:t>
            </a:r>
            <a:endParaRPr lang="en-US" sz="1000"/>
          </a:p>
          <a:p>
            <a:r>
              <a:rPr lang="en-US" sz="1000" err="1">
                <a:latin typeface="Consolas"/>
              </a:rPr>
              <a:t>apiVersion</a:t>
            </a:r>
            <a:r>
              <a:rPr lang="en-US" sz="1000">
                <a:latin typeface="Consolas"/>
              </a:rPr>
              <a:t>: storage.k8s.io/v1</a:t>
            </a:r>
            <a:endParaRPr lang="en-US" sz="1000"/>
          </a:p>
          <a:p>
            <a:r>
              <a:rPr lang="en-US" sz="1000">
                <a:latin typeface="Consolas"/>
              </a:rPr>
              <a:t>kind: </a:t>
            </a:r>
            <a:r>
              <a:rPr lang="en-US" sz="1000" err="1">
                <a:latin typeface="Consolas"/>
              </a:rPr>
              <a:t>StorageClass</a:t>
            </a:r>
            <a:endParaRPr lang="en-US" sz="1000"/>
          </a:p>
          <a:p>
            <a:r>
              <a:rPr lang="en-US" sz="1000">
                <a:latin typeface="Consolas"/>
              </a:rPr>
              <a:t>metadata:</a:t>
            </a:r>
            <a:endParaRPr lang="en-US" sz="1000"/>
          </a:p>
          <a:p>
            <a:r>
              <a:rPr lang="en-US" sz="1000">
                <a:latin typeface="Consolas"/>
              </a:rPr>
              <a:t>  name: </a:t>
            </a:r>
            <a:r>
              <a:rPr lang="en-US" sz="1000" err="1">
                <a:latin typeface="Consolas"/>
              </a:rPr>
              <a:t>postgres</a:t>
            </a:r>
            <a:r>
              <a:rPr lang="en-US" sz="1000">
                <a:latin typeface="Consolas"/>
              </a:rPr>
              <a:t>-local</a:t>
            </a:r>
            <a:endParaRPr lang="en-US" sz="1000"/>
          </a:p>
          <a:p>
            <a:r>
              <a:rPr lang="en-US" sz="1000">
                <a:latin typeface="Consolas"/>
              </a:rPr>
              <a:t>provisioner: kubernetes.io/no-provisioner</a:t>
            </a:r>
            <a:endParaRPr lang="en-US" sz="1000"/>
          </a:p>
          <a:p>
            <a:r>
              <a:rPr lang="en-US" sz="1000" err="1">
                <a:latin typeface="Consolas"/>
              </a:rPr>
              <a:t>volumeBindingMode</a:t>
            </a:r>
            <a:r>
              <a:rPr lang="en-US" sz="1000">
                <a:latin typeface="Consolas"/>
              </a:rPr>
              <a:t>: Immediate</a:t>
            </a:r>
            <a:endParaRPr lang="en-US" sz="1000"/>
          </a:p>
          <a:p>
            <a:r>
              <a:rPr lang="en-US" sz="1000" err="1">
                <a:latin typeface="Consolas"/>
              </a:rPr>
              <a:t>reclaimPolicy</a:t>
            </a:r>
            <a:r>
              <a:rPr lang="en-US" sz="1000">
                <a:latin typeface="Consolas"/>
              </a:rPr>
              <a:t>: Retain</a:t>
            </a:r>
            <a:endParaRPr lang="en-US" sz="1000"/>
          </a:p>
          <a:p>
            <a:r>
              <a:rPr lang="en-US" sz="1000">
                <a:latin typeface="Consolas"/>
              </a:rPr>
              <a:t>---</a:t>
            </a:r>
            <a:endParaRPr lang="en-US" sz="1000"/>
          </a:p>
          <a:p>
            <a:r>
              <a:rPr lang="en-US" sz="1000" err="1">
                <a:latin typeface="Consolas"/>
              </a:rPr>
              <a:t>apiVersion</a:t>
            </a:r>
            <a:r>
              <a:rPr lang="en-US" sz="1000">
                <a:latin typeface="Consolas"/>
              </a:rPr>
              <a:t>: v1</a:t>
            </a:r>
            <a:endParaRPr lang="en-US" sz="1000"/>
          </a:p>
          <a:p>
            <a:r>
              <a:rPr lang="en-US" sz="1000">
                <a:latin typeface="Consolas"/>
              </a:rPr>
              <a:t>kind: </a:t>
            </a:r>
            <a:r>
              <a:rPr lang="en-US" sz="1000" err="1">
                <a:latin typeface="Consolas"/>
              </a:rPr>
              <a:t>PersistentVolume</a:t>
            </a:r>
            <a:endParaRPr lang="en-US" sz="1000"/>
          </a:p>
          <a:p>
            <a:r>
              <a:rPr lang="en-US" sz="1000">
                <a:latin typeface="Consolas"/>
              </a:rPr>
              <a:t>metadata:</a:t>
            </a:r>
            <a:endParaRPr lang="en-US" sz="1000"/>
          </a:p>
          <a:p>
            <a:r>
              <a:rPr lang="en-US" sz="1000">
                <a:latin typeface="Consolas"/>
              </a:rPr>
              <a:t>  name: </a:t>
            </a:r>
            <a:r>
              <a:rPr lang="en-US" sz="1000" err="1">
                <a:latin typeface="Consolas"/>
              </a:rPr>
              <a:t>postgres-pv</a:t>
            </a:r>
            <a:endParaRPr lang="en-US" sz="1000"/>
          </a:p>
          <a:p>
            <a:r>
              <a:rPr lang="en-US" sz="1000">
                <a:latin typeface="Consolas"/>
              </a:rPr>
              <a:t>spec:</a:t>
            </a:r>
            <a:endParaRPr lang="en-US" sz="1000"/>
          </a:p>
          <a:p>
            <a:r>
              <a:rPr lang="en-US" sz="1000">
                <a:latin typeface="Consolas"/>
              </a:rPr>
              <a:t>  capacity:</a:t>
            </a:r>
            <a:endParaRPr lang="en-US" sz="1000"/>
          </a:p>
          <a:p>
            <a:r>
              <a:rPr lang="en-US" sz="1000">
                <a:latin typeface="Consolas"/>
              </a:rPr>
              <a:t>    storage: 1Gi</a:t>
            </a:r>
            <a:endParaRPr lang="en-US" sz="1000"/>
          </a:p>
          <a:p>
            <a:r>
              <a:rPr lang="en-US" sz="1000">
                <a:latin typeface="Consolas"/>
              </a:rPr>
              <a:t>  </a:t>
            </a:r>
            <a:r>
              <a:rPr lang="en-US" sz="1000" err="1">
                <a:latin typeface="Consolas"/>
              </a:rPr>
              <a:t>volumeMode</a:t>
            </a:r>
            <a:r>
              <a:rPr lang="en-US" sz="1000">
                <a:latin typeface="Consolas"/>
              </a:rPr>
              <a:t>: Filesystem</a:t>
            </a:r>
            <a:endParaRPr lang="en-US" sz="1000"/>
          </a:p>
          <a:p>
            <a:r>
              <a:rPr lang="en-US" sz="1000">
                <a:latin typeface="Consolas"/>
              </a:rPr>
              <a:t>  </a:t>
            </a:r>
            <a:r>
              <a:rPr lang="en-US" sz="1000" err="1">
                <a:latin typeface="Consolas"/>
              </a:rPr>
              <a:t>accessModes</a:t>
            </a:r>
            <a:r>
              <a:rPr lang="en-US" sz="1000">
                <a:latin typeface="Consolas"/>
              </a:rPr>
              <a:t>:</a:t>
            </a:r>
            <a:endParaRPr lang="en-US" sz="1000"/>
          </a:p>
          <a:p>
            <a:r>
              <a:rPr lang="en-US" sz="1000">
                <a:latin typeface="Consolas"/>
              </a:rPr>
              <a:t>    - </a:t>
            </a:r>
            <a:r>
              <a:rPr lang="en-US" sz="1000" err="1">
                <a:latin typeface="Consolas"/>
              </a:rPr>
              <a:t>ReadWriteOnce</a:t>
            </a:r>
            <a:endParaRPr lang="en-US" sz="1000"/>
          </a:p>
          <a:p>
            <a:r>
              <a:rPr lang="en-US" sz="1000">
                <a:latin typeface="Consolas"/>
              </a:rPr>
              <a:t>  </a:t>
            </a:r>
            <a:r>
              <a:rPr lang="en-US" sz="1000" err="1">
                <a:latin typeface="Consolas"/>
              </a:rPr>
              <a:t>persistentVolumeReclaimPolicy</a:t>
            </a:r>
            <a:r>
              <a:rPr lang="en-US" sz="1000">
                <a:latin typeface="Consolas"/>
              </a:rPr>
              <a:t>: Retain</a:t>
            </a:r>
            <a:endParaRPr lang="en-US" sz="1000"/>
          </a:p>
          <a:p>
            <a:r>
              <a:rPr lang="en-US" sz="1000">
                <a:latin typeface="Consolas"/>
              </a:rPr>
              <a:t>  </a:t>
            </a:r>
            <a:r>
              <a:rPr lang="en-US" sz="1000" err="1">
                <a:latin typeface="Consolas"/>
              </a:rPr>
              <a:t>storageClassName</a:t>
            </a:r>
            <a:r>
              <a:rPr lang="en-US" sz="1000">
                <a:latin typeface="Consolas"/>
              </a:rPr>
              <a:t>: </a:t>
            </a:r>
            <a:r>
              <a:rPr lang="en-US" sz="1000" err="1">
                <a:latin typeface="Consolas"/>
              </a:rPr>
              <a:t>postgres</a:t>
            </a:r>
            <a:r>
              <a:rPr lang="en-US" sz="1000">
                <a:latin typeface="Consolas"/>
              </a:rPr>
              <a:t>-local</a:t>
            </a:r>
            <a:endParaRPr lang="en-US" sz="1000"/>
          </a:p>
          <a:p>
            <a:r>
              <a:rPr lang="en-US" sz="1000">
                <a:latin typeface="Consolas"/>
              </a:rPr>
              <a:t>  </a:t>
            </a:r>
            <a:r>
              <a:rPr lang="en-US" sz="1000" err="1">
                <a:latin typeface="Consolas"/>
              </a:rPr>
              <a:t>hostPath</a:t>
            </a:r>
            <a:r>
              <a:rPr lang="en-US" sz="1000">
                <a:latin typeface="Consolas"/>
              </a:rPr>
              <a:t>:</a:t>
            </a:r>
            <a:endParaRPr lang="en-US" sz="1000"/>
          </a:p>
          <a:p>
            <a:r>
              <a:rPr lang="en-US" sz="1000">
                <a:latin typeface="Consolas"/>
              </a:rPr>
              <a:t>    path: /</a:t>
            </a:r>
            <a:r>
              <a:rPr lang="en-US" sz="1000" err="1">
                <a:latin typeface="Consolas"/>
              </a:rPr>
              <a:t>mnt</a:t>
            </a:r>
            <a:r>
              <a:rPr lang="en-US" sz="1000">
                <a:latin typeface="Consolas"/>
              </a:rPr>
              <a:t>/data/</a:t>
            </a:r>
            <a:r>
              <a:rPr lang="en-US" sz="1000" err="1">
                <a:latin typeface="Consolas"/>
              </a:rPr>
              <a:t>postgres</a:t>
            </a:r>
            <a:endParaRPr lang="en-US" sz="1000"/>
          </a:p>
          <a:p>
            <a:r>
              <a:rPr lang="en-US" sz="1000">
                <a:latin typeface="Consolas"/>
              </a:rPr>
              <a:t>    type: </a:t>
            </a:r>
            <a:r>
              <a:rPr lang="en-US" sz="1000" err="1">
                <a:latin typeface="Consolas"/>
              </a:rPr>
              <a:t>DirectoryOrCreate</a:t>
            </a:r>
            <a:endParaRPr lang="en-US" sz="1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63ED93-D2FE-DC4D-90A6-9F741AC29B21}"/>
              </a:ext>
            </a:extLst>
          </p:cNvPr>
          <p:cNvSpPr txBox="1"/>
          <p:nvPr/>
        </p:nvSpPr>
        <p:spPr>
          <a:xfrm>
            <a:off x="5697738" y="2470957"/>
            <a:ext cx="6175107" cy="38779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latin typeface="Consolas"/>
              </a:rPr>
              <a:t>---</a:t>
            </a:r>
          </a:p>
          <a:p>
            <a:r>
              <a:rPr lang="en-US" sz="1000" err="1">
                <a:latin typeface="Consolas"/>
              </a:rPr>
              <a:t>apiVersion</a:t>
            </a:r>
            <a:r>
              <a:rPr lang="en-US" sz="1000">
                <a:latin typeface="Consolas"/>
              </a:rPr>
              <a:t>: v1</a:t>
            </a:r>
          </a:p>
          <a:p>
            <a:r>
              <a:rPr lang="en-US" sz="1000">
                <a:latin typeface="Consolas"/>
              </a:rPr>
              <a:t>kind: </a:t>
            </a:r>
            <a:r>
              <a:rPr lang="en-US" sz="1000" err="1">
                <a:latin typeface="Consolas"/>
              </a:rPr>
              <a:t>PersistentVolumeClaim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</a:rPr>
              <a:t>metadata:</a:t>
            </a:r>
          </a:p>
          <a:p>
            <a:r>
              <a:rPr lang="en-US" sz="1000">
                <a:latin typeface="Consolas"/>
              </a:rPr>
              <a:t>  name: </a:t>
            </a:r>
            <a:r>
              <a:rPr lang="en-US" sz="1000" err="1">
                <a:latin typeface="Consolas"/>
              </a:rPr>
              <a:t>postgres-pvc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</a:rPr>
              <a:t>  namespace: </a:t>
            </a:r>
            <a:r>
              <a:rPr lang="en-US" sz="1000" err="1">
                <a:latin typeface="Consolas"/>
              </a:rPr>
              <a:t>devops</a:t>
            </a:r>
            <a:r>
              <a:rPr lang="en-US" sz="1000">
                <a:latin typeface="Consolas"/>
              </a:rPr>
              <a:t>-assignment</a:t>
            </a:r>
          </a:p>
          <a:p>
            <a:r>
              <a:rPr lang="en-US" sz="1000">
                <a:latin typeface="Consolas"/>
              </a:rPr>
              <a:t>spec:</a:t>
            </a:r>
          </a:p>
          <a:p>
            <a:r>
              <a:rPr lang="en-US" sz="1000">
                <a:latin typeface="Consolas"/>
              </a:rPr>
              <a:t>  </a:t>
            </a:r>
            <a:r>
              <a:rPr lang="en-US" sz="1000" err="1">
                <a:latin typeface="Consolas"/>
              </a:rPr>
              <a:t>accessModes</a:t>
            </a:r>
            <a:r>
              <a:rPr lang="en-US" sz="1000">
                <a:latin typeface="Consolas"/>
              </a:rPr>
              <a:t>:</a:t>
            </a:r>
          </a:p>
          <a:p>
            <a:r>
              <a:rPr lang="en-US" sz="1000">
                <a:latin typeface="Consolas"/>
              </a:rPr>
              <a:t>    - </a:t>
            </a:r>
            <a:r>
              <a:rPr lang="en-US" sz="1000" err="1">
                <a:latin typeface="Consolas"/>
              </a:rPr>
              <a:t>ReadWriteOnce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</a:rPr>
              <a:t>  </a:t>
            </a:r>
            <a:r>
              <a:rPr lang="en-US" sz="1000" err="1">
                <a:latin typeface="Consolas"/>
              </a:rPr>
              <a:t>storageClassName</a:t>
            </a:r>
            <a:r>
              <a:rPr lang="en-US" sz="1000">
                <a:latin typeface="Consolas"/>
              </a:rPr>
              <a:t>: </a:t>
            </a:r>
            <a:r>
              <a:rPr lang="en-US" sz="1000" err="1">
                <a:latin typeface="Consolas"/>
              </a:rPr>
              <a:t>postgres</a:t>
            </a:r>
            <a:r>
              <a:rPr lang="en-US" sz="1000">
                <a:latin typeface="Consolas"/>
              </a:rPr>
              <a:t>-local</a:t>
            </a:r>
          </a:p>
          <a:p>
            <a:r>
              <a:rPr lang="en-US" sz="1000">
                <a:latin typeface="Consolas"/>
              </a:rPr>
              <a:t>  resources:</a:t>
            </a:r>
          </a:p>
          <a:p>
            <a:r>
              <a:rPr lang="en-US" sz="1000">
                <a:latin typeface="Consolas"/>
              </a:rPr>
              <a:t>    requests:</a:t>
            </a:r>
          </a:p>
          <a:p>
            <a:r>
              <a:rPr lang="en-US" sz="1000">
                <a:latin typeface="Consolas"/>
              </a:rPr>
              <a:t>      storage: 1Gi</a:t>
            </a:r>
          </a:p>
          <a:p>
            <a:r>
              <a:rPr lang="en-US" sz="1000">
                <a:latin typeface="Consolas"/>
              </a:rPr>
              <a:t>EOF</a:t>
            </a:r>
          </a:p>
          <a:p>
            <a:pPr algn="l"/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00" err="1">
                <a:ea typeface="+mn-lt"/>
                <a:cs typeface="+mn-lt"/>
              </a:rPr>
              <a:t>StorageClass</a:t>
            </a:r>
            <a:r>
              <a:rPr lang="en-US" sz="1400">
                <a:ea typeface="+mn-lt"/>
                <a:cs typeface="+mn-lt"/>
              </a:rPr>
              <a:t>: defines the storage type and provisioning behavior.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 err="1">
                <a:ea typeface="+mn-lt"/>
                <a:cs typeface="+mn-lt"/>
              </a:rPr>
              <a:t>PersistentVolume</a:t>
            </a:r>
            <a:r>
              <a:rPr lang="en-US" sz="1400">
                <a:ea typeface="+mn-lt"/>
                <a:cs typeface="+mn-lt"/>
              </a:rPr>
              <a:t> (PV): represents the 1 GiB storage resource.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 err="1">
                <a:ea typeface="+mn-lt"/>
                <a:cs typeface="+mn-lt"/>
              </a:rPr>
              <a:t>PersistentVolumeClaim</a:t>
            </a:r>
            <a:r>
              <a:rPr lang="en-US" sz="1400">
                <a:ea typeface="+mn-lt"/>
                <a:cs typeface="+mn-lt"/>
              </a:rPr>
              <a:t> (PVC): requests storage for PostgreSQL.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The </a:t>
            </a:r>
            <a:r>
              <a:rPr lang="en-US" sz="1400" err="1">
                <a:latin typeface="Consolas"/>
              </a:rPr>
              <a:t>DirectoryOrCreate</a:t>
            </a:r>
            <a:r>
              <a:rPr lang="en-US" sz="1400">
                <a:ea typeface="+mn-lt"/>
                <a:cs typeface="+mn-lt"/>
              </a:rPr>
              <a:t> option allows Kubernetes to create the directory in the node if it doesn't exist.</a:t>
            </a:r>
            <a:endParaRPr lang="en-US" sz="14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009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AE834F-E699-76FE-83F8-809C4D923D31}"/>
              </a:ext>
            </a:extLst>
          </p:cNvPr>
          <p:cNvSpPr txBox="1"/>
          <p:nvPr/>
        </p:nvSpPr>
        <p:spPr>
          <a:xfrm>
            <a:off x="116280" y="130815"/>
            <a:ext cx="1186393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Apply manifest --&gt; </a:t>
            </a:r>
            <a:r>
              <a:rPr lang="en-US" err="1"/>
              <a:t>kubectl</a:t>
            </a:r>
            <a:r>
              <a:rPr lang="en-US"/>
              <a:t> apply -f k8s/</a:t>
            </a:r>
            <a:r>
              <a:rPr lang="en-US" err="1"/>
              <a:t>storage.yaml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67439C-97F7-AB5D-5248-95BEDCC4A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534" y="505724"/>
            <a:ext cx="12192000" cy="12512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F516F3-7DDF-BF61-329A-561A3A73877B}"/>
              </a:ext>
            </a:extLst>
          </p:cNvPr>
          <p:cNvSpPr txBox="1"/>
          <p:nvPr/>
        </p:nvSpPr>
        <p:spPr>
          <a:xfrm>
            <a:off x="142435" y="1947696"/>
            <a:ext cx="1203261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Verify the PV and PVC: </a:t>
            </a:r>
          </a:p>
          <a:p>
            <a:endParaRPr lang="en-US"/>
          </a:p>
          <a:p>
            <a:r>
              <a:rPr lang="en-US" err="1"/>
              <a:t>kubectl</a:t>
            </a:r>
            <a:r>
              <a:rPr lang="en-US"/>
              <a:t> get </a:t>
            </a:r>
            <a:r>
              <a:rPr lang="en-US" err="1"/>
              <a:t>storageclass</a:t>
            </a:r>
          </a:p>
          <a:p>
            <a:r>
              <a:rPr lang="en-US" err="1"/>
              <a:t>kubectl</a:t>
            </a:r>
            <a:r>
              <a:rPr lang="en-US"/>
              <a:t> get </a:t>
            </a:r>
            <a:r>
              <a:rPr lang="en-US" err="1"/>
              <a:t>pv</a:t>
            </a:r>
          </a:p>
          <a:p>
            <a:r>
              <a:rPr lang="en-US" err="1"/>
              <a:t>kubectl</a:t>
            </a:r>
            <a:r>
              <a:rPr lang="en-US"/>
              <a:t> get </a:t>
            </a:r>
            <a:r>
              <a:rPr lang="en-US" err="1"/>
              <a:t>pvc</a:t>
            </a:r>
            <a:r>
              <a:rPr lang="en-US"/>
              <a:t> -n </a:t>
            </a:r>
            <a:r>
              <a:rPr lang="en-US" err="1"/>
              <a:t>devops</a:t>
            </a:r>
            <a:r>
              <a:rPr lang="en-US"/>
              <a:t>-assignment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39A4D0-8D59-1269-5901-1DF0A79EC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5" y="4036272"/>
            <a:ext cx="12192000" cy="282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028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B9CBC8-161E-FDED-1352-A4182EE0C978}"/>
              </a:ext>
            </a:extLst>
          </p:cNvPr>
          <p:cNvSpPr txBox="1"/>
          <p:nvPr/>
        </p:nvSpPr>
        <p:spPr>
          <a:xfrm>
            <a:off x="130815" y="122096"/>
            <a:ext cx="3790223" cy="67095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Phase 6: </a:t>
            </a:r>
            <a:r>
              <a:rPr lang="en-US" b="1">
                <a:ea typeface="+mn-lt"/>
                <a:cs typeface="+mn-lt"/>
              </a:rPr>
              <a:t>Deploy PostgreSQL</a:t>
            </a:r>
          </a:p>
          <a:p>
            <a:r>
              <a:rPr lang="en-US">
                <a:ea typeface="+mn-lt"/>
                <a:cs typeface="+mn-lt"/>
              </a:rPr>
              <a:t>This completes the database deployment part  and uses the storage created in Phase 5</a:t>
            </a:r>
          </a:p>
          <a:p>
            <a:r>
              <a:rPr lang="en-US">
                <a:ea typeface="+mn-lt"/>
                <a:cs typeface="+mn-lt"/>
              </a:rPr>
              <a:t>6.1 Create </a:t>
            </a:r>
            <a:r>
              <a:rPr lang="en-US">
                <a:latin typeface="Consolas"/>
              </a:rPr>
              <a:t>k8s/</a:t>
            </a:r>
            <a:r>
              <a:rPr lang="en-US" err="1">
                <a:latin typeface="Consolas"/>
              </a:rPr>
              <a:t>postgres.yaml</a:t>
            </a:r>
            <a:endParaRPr lang="en-US">
              <a:latin typeface="Consolas"/>
            </a:endParaRPr>
          </a:p>
          <a:p>
            <a:r>
              <a:rPr lang="en-US" sz="1000">
                <a:latin typeface="Consolas"/>
              </a:rPr>
              <a:t>cat &gt; k8s/</a:t>
            </a:r>
            <a:r>
              <a:rPr lang="en-US" sz="1000" err="1">
                <a:latin typeface="Consolas"/>
              </a:rPr>
              <a:t>postgres.yaml</a:t>
            </a:r>
            <a:r>
              <a:rPr lang="en-US" sz="1000">
                <a:latin typeface="Consolas"/>
              </a:rPr>
              <a:t> &lt;&lt;'EOF'</a:t>
            </a:r>
            <a:endParaRPr lang="en-US" sz="1000"/>
          </a:p>
          <a:p>
            <a:r>
              <a:rPr lang="en-US" sz="1000" err="1">
                <a:latin typeface="Consolas"/>
              </a:rPr>
              <a:t>apiVersion</a:t>
            </a:r>
            <a:r>
              <a:rPr lang="en-US" sz="1000">
                <a:latin typeface="Consolas"/>
              </a:rPr>
              <a:t>: v1</a:t>
            </a:r>
            <a:endParaRPr lang="en-US" sz="1000"/>
          </a:p>
          <a:p>
            <a:r>
              <a:rPr lang="en-US" sz="1000">
                <a:latin typeface="Consolas"/>
              </a:rPr>
              <a:t>kind: Secret</a:t>
            </a:r>
            <a:endParaRPr lang="en-US" sz="1000"/>
          </a:p>
          <a:p>
            <a:r>
              <a:rPr lang="en-US" sz="1000">
                <a:latin typeface="Consolas"/>
              </a:rPr>
              <a:t>metadata:</a:t>
            </a:r>
            <a:endParaRPr lang="en-US" sz="1000"/>
          </a:p>
          <a:p>
            <a:r>
              <a:rPr lang="en-US" sz="1000">
                <a:latin typeface="Consolas"/>
              </a:rPr>
              <a:t>  name: </a:t>
            </a:r>
            <a:r>
              <a:rPr lang="en-US" sz="1000" err="1">
                <a:latin typeface="Consolas"/>
              </a:rPr>
              <a:t>postgres</a:t>
            </a:r>
            <a:r>
              <a:rPr lang="en-US" sz="1000">
                <a:latin typeface="Consolas"/>
              </a:rPr>
              <a:t>-secret</a:t>
            </a:r>
            <a:endParaRPr lang="en-US" sz="1000"/>
          </a:p>
          <a:p>
            <a:r>
              <a:rPr lang="en-US" sz="1000">
                <a:latin typeface="Consolas"/>
              </a:rPr>
              <a:t>  namespace: </a:t>
            </a:r>
            <a:r>
              <a:rPr lang="en-US" sz="1000" err="1">
                <a:latin typeface="Consolas"/>
              </a:rPr>
              <a:t>devops</a:t>
            </a:r>
            <a:r>
              <a:rPr lang="en-US" sz="1000">
                <a:latin typeface="Consolas"/>
              </a:rPr>
              <a:t>-assignment</a:t>
            </a:r>
            <a:endParaRPr lang="en-US" sz="1000"/>
          </a:p>
          <a:p>
            <a:r>
              <a:rPr lang="en-US" sz="1000">
                <a:latin typeface="Consolas"/>
              </a:rPr>
              <a:t>type: Opaque</a:t>
            </a:r>
            <a:endParaRPr lang="en-US" sz="1000"/>
          </a:p>
          <a:p>
            <a:r>
              <a:rPr lang="en-US" sz="1000" err="1">
                <a:latin typeface="Consolas"/>
              </a:rPr>
              <a:t>stringData</a:t>
            </a:r>
            <a:r>
              <a:rPr lang="en-US" sz="1000">
                <a:latin typeface="Consolas"/>
              </a:rPr>
              <a:t>:</a:t>
            </a:r>
            <a:endParaRPr lang="en-US" sz="1000"/>
          </a:p>
          <a:p>
            <a:r>
              <a:rPr lang="en-US" sz="1000">
                <a:latin typeface="Consolas"/>
              </a:rPr>
              <a:t>  POSTGRES_DB: </a:t>
            </a:r>
            <a:r>
              <a:rPr lang="en-US" sz="1000" err="1">
                <a:latin typeface="Consolas"/>
              </a:rPr>
              <a:t>notesdb</a:t>
            </a:r>
            <a:endParaRPr lang="en-US" sz="1000" err="1"/>
          </a:p>
          <a:p>
            <a:r>
              <a:rPr lang="en-US" sz="1000">
                <a:latin typeface="Consolas"/>
              </a:rPr>
              <a:t>  POSTGRES_USER: </a:t>
            </a:r>
            <a:r>
              <a:rPr lang="en-US" sz="1000" err="1">
                <a:latin typeface="Consolas"/>
              </a:rPr>
              <a:t>appuser</a:t>
            </a:r>
            <a:endParaRPr lang="en-US" sz="1000" err="1"/>
          </a:p>
          <a:p>
            <a:r>
              <a:rPr lang="en-US" sz="1000">
                <a:latin typeface="Consolas"/>
              </a:rPr>
              <a:t>  POSTGRES_PASSWORD: local-dev-password-change-me</a:t>
            </a:r>
            <a:endParaRPr lang="en-US" sz="1000"/>
          </a:p>
          <a:p>
            <a:r>
              <a:rPr lang="en-US" sz="1000">
                <a:latin typeface="Consolas"/>
              </a:rPr>
              <a:t>---</a:t>
            </a:r>
            <a:endParaRPr lang="en-US" sz="1000"/>
          </a:p>
          <a:p>
            <a:r>
              <a:rPr lang="en-US" sz="1000" err="1">
                <a:latin typeface="Consolas"/>
              </a:rPr>
              <a:t>apiVersion</a:t>
            </a:r>
            <a:r>
              <a:rPr lang="en-US" sz="1000">
                <a:latin typeface="Consolas"/>
              </a:rPr>
              <a:t>: apps/v1</a:t>
            </a:r>
            <a:endParaRPr lang="en-US" sz="1000"/>
          </a:p>
          <a:p>
            <a:r>
              <a:rPr lang="en-US" sz="1000">
                <a:latin typeface="Consolas"/>
              </a:rPr>
              <a:t>kind: Deployment</a:t>
            </a:r>
            <a:endParaRPr lang="en-US" sz="1000"/>
          </a:p>
          <a:p>
            <a:r>
              <a:rPr lang="en-US" sz="1000">
                <a:latin typeface="Consolas"/>
              </a:rPr>
              <a:t>metadata:</a:t>
            </a:r>
            <a:endParaRPr lang="en-US" sz="1000"/>
          </a:p>
          <a:p>
            <a:r>
              <a:rPr lang="en-US" sz="1000">
                <a:latin typeface="Consolas"/>
              </a:rPr>
              <a:t>  name: </a:t>
            </a:r>
            <a:r>
              <a:rPr lang="en-US" sz="1000" err="1">
                <a:latin typeface="Consolas"/>
              </a:rPr>
              <a:t>postgres</a:t>
            </a:r>
            <a:endParaRPr lang="en-US" sz="1000" err="1"/>
          </a:p>
          <a:p>
            <a:r>
              <a:rPr lang="en-US" sz="1000">
                <a:latin typeface="Consolas"/>
              </a:rPr>
              <a:t>  namespace: </a:t>
            </a:r>
            <a:r>
              <a:rPr lang="en-US" sz="1000" err="1">
                <a:latin typeface="Consolas"/>
              </a:rPr>
              <a:t>devops</a:t>
            </a:r>
            <a:r>
              <a:rPr lang="en-US" sz="1000">
                <a:latin typeface="Consolas"/>
              </a:rPr>
              <a:t>-assignment</a:t>
            </a:r>
            <a:endParaRPr lang="en-US" sz="1000"/>
          </a:p>
          <a:p>
            <a:r>
              <a:rPr lang="en-US" sz="1000">
                <a:latin typeface="Consolas"/>
              </a:rPr>
              <a:t>spec:</a:t>
            </a:r>
            <a:endParaRPr lang="en-US" sz="1000"/>
          </a:p>
          <a:p>
            <a:r>
              <a:rPr lang="en-US" sz="1000">
                <a:latin typeface="Consolas"/>
              </a:rPr>
              <a:t>  replicas: 1</a:t>
            </a:r>
            <a:endParaRPr lang="en-US" sz="1000"/>
          </a:p>
          <a:p>
            <a:r>
              <a:rPr lang="en-US" sz="1000">
                <a:latin typeface="Consolas"/>
              </a:rPr>
              <a:t>  selector:</a:t>
            </a:r>
            <a:endParaRPr lang="en-US" sz="1000"/>
          </a:p>
          <a:p>
            <a:r>
              <a:rPr lang="en-US" sz="1000">
                <a:latin typeface="Consolas"/>
              </a:rPr>
              <a:t>    </a:t>
            </a:r>
            <a:r>
              <a:rPr lang="en-US" sz="1000" err="1">
                <a:latin typeface="Consolas"/>
              </a:rPr>
              <a:t>matchLabels</a:t>
            </a:r>
            <a:r>
              <a:rPr lang="en-US" sz="1000">
                <a:latin typeface="Consolas"/>
              </a:rPr>
              <a:t>:</a:t>
            </a:r>
            <a:endParaRPr lang="en-US" sz="1000"/>
          </a:p>
          <a:p>
            <a:r>
              <a:rPr lang="en-US" sz="1000">
                <a:latin typeface="Consolas"/>
              </a:rPr>
              <a:t>      app: </a:t>
            </a:r>
            <a:r>
              <a:rPr lang="en-US" sz="1000" err="1">
                <a:latin typeface="Consolas"/>
              </a:rPr>
              <a:t>postgres</a:t>
            </a:r>
            <a:endParaRPr lang="en-US" sz="1000" err="1"/>
          </a:p>
          <a:p>
            <a:r>
              <a:rPr lang="en-US" sz="1000">
                <a:latin typeface="Consolas"/>
              </a:rPr>
              <a:t>  strategy:</a:t>
            </a:r>
            <a:endParaRPr lang="en-US" sz="1000"/>
          </a:p>
          <a:p>
            <a:r>
              <a:rPr lang="en-US" sz="1000">
                <a:latin typeface="Consolas"/>
              </a:rPr>
              <a:t>    type: Recreate</a:t>
            </a:r>
            <a:endParaRPr lang="en-US" sz="1000"/>
          </a:p>
          <a:p>
            <a:r>
              <a:rPr lang="en-US" sz="1000">
                <a:latin typeface="Consolas"/>
              </a:rPr>
              <a:t>  template:</a:t>
            </a:r>
          </a:p>
          <a:p>
            <a:r>
              <a:rPr lang="en-US" sz="1000">
                <a:latin typeface="Consolas"/>
              </a:rPr>
              <a:t>    metadata:</a:t>
            </a:r>
          </a:p>
          <a:p>
            <a:r>
              <a:rPr lang="en-US" sz="1000">
                <a:latin typeface="Consolas"/>
              </a:rPr>
              <a:t>      labels:</a:t>
            </a:r>
          </a:p>
          <a:p>
            <a:r>
              <a:rPr lang="en-US" sz="1000">
                <a:latin typeface="Consolas"/>
              </a:rPr>
              <a:t>        app: </a:t>
            </a:r>
            <a:r>
              <a:rPr lang="en-US" sz="1000" err="1">
                <a:latin typeface="Consolas"/>
              </a:rPr>
              <a:t>postgres</a:t>
            </a:r>
          </a:p>
          <a:p>
            <a:r>
              <a:rPr lang="en-US" sz="1000">
                <a:latin typeface="Consolas"/>
              </a:rPr>
              <a:t>    spec:</a:t>
            </a:r>
          </a:p>
          <a:p>
            <a:r>
              <a:rPr lang="en-US" sz="1000">
                <a:latin typeface="Consolas"/>
              </a:rPr>
              <a:t>      </a:t>
            </a:r>
            <a:r>
              <a:rPr lang="en-US" sz="1000" err="1">
                <a:latin typeface="Consolas"/>
              </a:rPr>
              <a:t>nodeSelector</a:t>
            </a:r>
            <a:r>
              <a:rPr lang="en-US" sz="1000">
                <a:latin typeface="Consolas"/>
              </a:rPr>
              <a:t>:</a:t>
            </a:r>
          </a:p>
          <a:p>
            <a:r>
              <a:rPr lang="en-US" sz="1000">
                <a:latin typeface="Consolas"/>
              </a:rPr>
              <a:t>        workload: database</a:t>
            </a:r>
          </a:p>
          <a:p>
            <a:r>
              <a:rPr lang="en-US" sz="1000">
                <a:latin typeface="Consolas"/>
              </a:rPr>
              <a:t>      containers:</a:t>
            </a:r>
          </a:p>
          <a:p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</a:rPr>
              <a:t>  </a:t>
            </a:r>
            <a:endParaRPr lang="en-US" sz="1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F3CCC8-84AF-12D0-6A9D-4EBD662E2270}"/>
              </a:ext>
            </a:extLst>
          </p:cNvPr>
          <p:cNvSpPr txBox="1"/>
          <p:nvPr/>
        </p:nvSpPr>
        <p:spPr>
          <a:xfrm>
            <a:off x="3926240" y="2846"/>
            <a:ext cx="4930313" cy="69865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latin typeface="Consolas"/>
              </a:rPr>
              <a:t>        - name: </a:t>
            </a:r>
            <a:r>
              <a:rPr lang="en-US" sz="1000" err="1">
                <a:latin typeface="Consolas"/>
              </a:rPr>
              <a:t>postgres</a:t>
            </a:r>
            <a:endParaRPr lang="en-US"/>
          </a:p>
          <a:p>
            <a:r>
              <a:rPr lang="en-US" sz="1000">
                <a:latin typeface="Consolas"/>
              </a:rPr>
              <a:t>          image: postgres:16</a:t>
            </a:r>
          </a:p>
          <a:p>
            <a:r>
              <a:rPr lang="en-US" sz="1000">
                <a:latin typeface="Consolas"/>
              </a:rPr>
              <a:t>          </a:t>
            </a:r>
            <a:r>
              <a:rPr lang="en-US" sz="1000" err="1">
                <a:latin typeface="Consolas"/>
              </a:rPr>
              <a:t>imagePullPolicy</a:t>
            </a:r>
            <a:r>
              <a:rPr lang="en-US" sz="1000">
                <a:latin typeface="Consolas"/>
              </a:rPr>
              <a:t>: </a:t>
            </a:r>
            <a:r>
              <a:rPr lang="en-US" sz="1000" err="1">
                <a:latin typeface="Consolas"/>
              </a:rPr>
              <a:t>IfNotPresent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</a:rPr>
              <a:t>          ports:</a:t>
            </a:r>
          </a:p>
          <a:p>
            <a:r>
              <a:rPr lang="en-US" sz="1000">
                <a:latin typeface="Consolas"/>
              </a:rPr>
              <a:t>            - </a:t>
            </a:r>
            <a:r>
              <a:rPr lang="en-US" sz="1000" err="1">
                <a:latin typeface="Consolas"/>
              </a:rPr>
              <a:t>containerPort</a:t>
            </a:r>
            <a:r>
              <a:rPr lang="en-US" sz="1000">
                <a:latin typeface="Consolas"/>
              </a:rPr>
              <a:t>: 5432</a:t>
            </a:r>
          </a:p>
          <a:p>
            <a:r>
              <a:rPr lang="en-US" sz="1000">
                <a:latin typeface="Consolas"/>
              </a:rPr>
              <a:t>          env:</a:t>
            </a:r>
          </a:p>
          <a:p>
            <a:r>
              <a:rPr lang="en-US" sz="1000">
                <a:latin typeface="Consolas"/>
              </a:rPr>
              <a:t>            - name: POSTGRES_DB</a:t>
            </a:r>
          </a:p>
          <a:p>
            <a:r>
              <a:rPr lang="en-US" sz="1000">
                <a:latin typeface="Consolas"/>
              </a:rPr>
              <a:t>              </a:t>
            </a:r>
            <a:r>
              <a:rPr lang="en-US" sz="1000" err="1">
                <a:latin typeface="Consolas"/>
              </a:rPr>
              <a:t>valueFrom</a:t>
            </a:r>
            <a:r>
              <a:rPr lang="en-US" sz="1000">
                <a:latin typeface="Consolas"/>
              </a:rPr>
              <a:t>:</a:t>
            </a:r>
          </a:p>
          <a:p>
            <a:r>
              <a:rPr lang="en-US" sz="1000">
                <a:latin typeface="Consolas"/>
              </a:rPr>
              <a:t>                </a:t>
            </a:r>
            <a:r>
              <a:rPr lang="en-US" sz="1000" err="1">
                <a:latin typeface="Consolas"/>
              </a:rPr>
              <a:t>secretKeyRef</a:t>
            </a:r>
            <a:r>
              <a:rPr lang="en-US" sz="1000">
                <a:latin typeface="Consolas"/>
              </a:rPr>
              <a:t>:</a:t>
            </a:r>
          </a:p>
          <a:p>
            <a:r>
              <a:rPr lang="en-US" sz="1000">
                <a:latin typeface="Consolas"/>
              </a:rPr>
              <a:t>                  name: </a:t>
            </a:r>
            <a:r>
              <a:rPr lang="en-US" sz="1000" err="1">
                <a:latin typeface="Consolas"/>
              </a:rPr>
              <a:t>postgres</a:t>
            </a:r>
            <a:r>
              <a:rPr lang="en-US" sz="1000">
                <a:latin typeface="Consolas"/>
              </a:rPr>
              <a:t>-secret</a:t>
            </a:r>
          </a:p>
          <a:p>
            <a:r>
              <a:rPr lang="en-US" sz="1000">
                <a:latin typeface="Consolas"/>
              </a:rPr>
              <a:t>                  key: POSTGRES_DB</a:t>
            </a:r>
          </a:p>
          <a:p>
            <a:r>
              <a:rPr lang="en-US" sz="1000">
                <a:latin typeface="Consolas"/>
              </a:rPr>
              <a:t>            - name: POSTGRES_USER</a:t>
            </a:r>
          </a:p>
          <a:p>
            <a:r>
              <a:rPr lang="en-US" sz="1000">
                <a:latin typeface="Consolas"/>
              </a:rPr>
              <a:t>              </a:t>
            </a:r>
            <a:r>
              <a:rPr lang="en-US" sz="1000" err="1">
                <a:latin typeface="Consolas"/>
              </a:rPr>
              <a:t>valueFrom</a:t>
            </a:r>
            <a:r>
              <a:rPr lang="en-US" sz="1000">
                <a:latin typeface="Consolas"/>
              </a:rPr>
              <a:t>:</a:t>
            </a:r>
          </a:p>
          <a:p>
            <a:r>
              <a:rPr lang="en-US" sz="1000">
                <a:latin typeface="Consolas"/>
              </a:rPr>
              <a:t>                </a:t>
            </a:r>
            <a:r>
              <a:rPr lang="en-US" sz="1000" err="1">
                <a:latin typeface="Consolas"/>
              </a:rPr>
              <a:t>secretKeyRef</a:t>
            </a:r>
            <a:r>
              <a:rPr lang="en-US" sz="1000">
                <a:latin typeface="Consolas"/>
              </a:rPr>
              <a:t>:</a:t>
            </a:r>
          </a:p>
          <a:p>
            <a:r>
              <a:rPr lang="en-US" sz="1000">
                <a:latin typeface="Consolas"/>
              </a:rPr>
              <a:t>                  name: </a:t>
            </a:r>
            <a:r>
              <a:rPr lang="en-US" sz="1000" err="1">
                <a:latin typeface="Consolas"/>
              </a:rPr>
              <a:t>postgres</a:t>
            </a:r>
            <a:r>
              <a:rPr lang="en-US" sz="1000">
                <a:latin typeface="Consolas"/>
              </a:rPr>
              <a:t>-secret</a:t>
            </a:r>
          </a:p>
          <a:p>
            <a:r>
              <a:rPr lang="en-US" sz="1000">
                <a:latin typeface="Consolas"/>
              </a:rPr>
              <a:t>                  key: POSTGRES_USER</a:t>
            </a:r>
          </a:p>
          <a:p>
            <a:r>
              <a:rPr lang="en-US" sz="1000">
                <a:latin typeface="Consolas"/>
              </a:rPr>
              <a:t>            - name: POSTGRES_PASSWORD</a:t>
            </a:r>
          </a:p>
          <a:p>
            <a:r>
              <a:rPr lang="en-US" sz="1000">
                <a:latin typeface="Consolas"/>
              </a:rPr>
              <a:t>              </a:t>
            </a:r>
            <a:r>
              <a:rPr lang="en-US" sz="1000" err="1">
                <a:latin typeface="Consolas"/>
              </a:rPr>
              <a:t>valueFrom</a:t>
            </a:r>
            <a:r>
              <a:rPr lang="en-US" sz="1000">
                <a:latin typeface="Consolas"/>
              </a:rPr>
              <a:t>:</a:t>
            </a:r>
          </a:p>
          <a:p>
            <a:r>
              <a:rPr lang="en-US" sz="1000">
                <a:latin typeface="Consolas"/>
              </a:rPr>
              <a:t>                </a:t>
            </a:r>
            <a:r>
              <a:rPr lang="en-US" sz="1000" err="1">
                <a:latin typeface="Consolas"/>
              </a:rPr>
              <a:t>secretKeyRef</a:t>
            </a:r>
            <a:r>
              <a:rPr lang="en-US" sz="1000">
                <a:latin typeface="Consolas"/>
              </a:rPr>
              <a:t>:</a:t>
            </a:r>
          </a:p>
          <a:p>
            <a:r>
              <a:rPr lang="en-US" sz="1000">
                <a:latin typeface="Consolas"/>
              </a:rPr>
              <a:t>                  name: </a:t>
            </a:r>
            <a:r>
              <a:rPr lang="en-US" sz="1000" err="1">
                <a:latin typeface="Consolas"/>
              </a:rPr>
              <a:t>postgres</a:t>
            </a:r>
            <a:r>
              <a:rPr lang="en-US" sz="1000">
                <a:latin typeface="Consolas"/>
              </a:rPr>
              <a:t>-secret</a:t>
            </a:r>
          </a:p>
          <a:p>
            <a:r>
              <a:rPr lang="en-US" sz="1000">
                <a:latin typeface="Consolas"/>
              </a:rPr>
              <a:t>                  key: POSTGRES_PASSWORD</a:t>
            </a:r>
          </a:p>
          <a:p>
            <a:r>
              <a:rPr lang="en-US" sz="1000">
                <a:latin typeface="Consolas"/>
              </a:rPr>
              <a:t>            - name: PGDATA</a:t>
            </a:r>
          </a:p>
          <a:p>
            <a:r>
              <a:rPr lang="en-US" sz="1000">
                <a:latin typeface="Consolas"/>
              </a:rPr>
              <a:t>              value: /var/lib/</a:t>
            </a:r>
            <a:r>
              <a:rPr lang="en-US" sz="1000" err="1">
                <a:latin typeface="Consolas"/>
              </a:rPr>
              <a:t>postgresql</a:t>
            </a:r>
            <a:r>
              <a:rPr lang="en-US" sz="1000">
                <a:latin typeface="Consolas"/>
              </a:rPr>
              <a:t>/data/</a:t>
            </a:r>
            <a:r>
              <a:rPr lang="en-US" sz="1000" err="1">
                <a:latin typeface="Consolas"/>
              </a:rPr>
              <a:t>pgdata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</a:rPr>
              <a:t>          </a:t>
            </a:r>
            <a:r>
              <a:rPr lang="en-US" sz="1000" err="1">
                <a:latin typeface="Consolas"/>
              </a:rPr>
              <a:t>volumeMounts</a:t>
            </a:r>
            <a:r>
              <a:rPr lang="en-US" sz="1000">
                <a:latin typeface="Consolas"/>
              </a:rPr>
              <a:t>:</a:t>
            </a:r>
          </a:p>
          <a:p>
            <a:r>
              <a:rPr lang="en-US" sz="1000">
                <a:latin typeface="Consolas"/>
              </a:rPr>
              <a:t>            - name: </a:t>
            </a:r>
            <a:r>
              <a:rPr lang="en-US" sz="1000" err="1">
                <a:latin typeface="Consolas"/>
              </a:rPr>
              <a:t>postgres</a:t>
            </a:r>
            <a:r>
              <a:rPr lang="en-US" sz="1000">
                <a:latin typeface="Consolas"/>
              </a:rPr>
              <a:t>-data</a:t>
            </a:r>
          </a:p>
          <a:p>
            <a:r>
              <a:rPr lang="en-US" sz="1000">
                <a:latin typeface="Consolas"/>
              </a:rPr>
              <a:t>              </a:t>
            </a:r>
            <a:r>
              <a:rPr lang="en-US" sz="1000" err="1">
                <a:latin typeface="Consolas"/>
              </a:rPr>
              <a:t>mountPath</a:t>
            </a:r>
            <a:r>
              <a:rPr lang="en-US" sz="1000">
                <a:latin typeface="Consolas"/>
              </a:rPr>
              <a:t>: /var/lib/</a:t>
            </a:r>
            <a:r>
              <a:rPr lang="en-US" sz="1000" err="1">
                <a:latin typeface="Consolas"/>
              </a:rPr>
              <a:t>postgresql</a:t>
            </a:r>
            <a:r>
              <a:rPr lang="en-US" sz="1000">
                <a:latin typeface="Consolas"/>
              </a:rPr>
              <a:t>/data</a:t>
            </a:r>
          </a:p>
          <a:p>
            <a:r>
              <a:rPr lang="en-US" sz="1000">
                <a:latin typeface="Consolas"/>
              </a:rPr>
              <a:t>          </a:t>
            </a:r>
            <a:r>
              <a:rPr lang="en-US" sz="1000" err="1">
                <a:latin typeface="Consolas"/>
              </a:rPr>
              <a:t>readinessProbe</a:t>
            </a:r>
            <a:r>
              <a:rPr lang="en-US" sz="1000">
                <a:latin typeface="Consolas"/>
              </a:rPr>
              <a:t>:</a:t>
            </a:r>
          </a:p>
          <a:p>
            <a:r>
              <a:rPr lang="en-US" sz="1000">
                <a:latin typeface="Consolas"/>
              </a:rPr>
              <a:t>            exec:</a:t>
            </a:r>
          </a:p>
          <a:p>
            <a:r>
              <a:rPr lang="en-US" sz="1000">
                <a:latin typeface="Consolas"/>
              </a:rPr>
              <a:t>              command:</a:t>
            </a:r>
          </a:p>
          <a:p>
            <a:r>
              <a:rPr lang="en-US" sz="1000">
                <a:latin typeface="Consolas"/>
              </a:rPr>
              <a:t>                - </a:t>
            </a:r>
            <a:r>
              <a:rPr lang="en-US" sz="1000" err="1">
                <a:latin typeface="Consolas"/>
              </a:rPr>
              <a:t>sh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</a:rPr>
              <a:t>                - -c</a:t>
            </a:r>
          </a:p>
          <a:p>
            <a:r>
              <a:rPr lang="en-US" sz="1000">
                <a:latin typeface="Consolas"/>
              </a:rPr>
              <a:t>                - </a:t>
            </a:r>
            <a:r>
              <a:rPr lang="en-US" sz="1000" err="1">
                <a:latin typeface="Consolas"/>
              </a:rPr>
              <a:t>pg_isready</a:t>
            </a:r>
            <a:r>
              <a:rPr lang="en-US" sz="1000">
                <a:latin typeface="Consolas"/>
              </a:rPr>
              <a:t> -U "$POSTGRES_USER" -d "$POSTGRES_DB"</a:t>
            </a:r>
          </a:p>
          <a:p>
            <a:r>
              <a:rPr lang="en-US" sz="1000">
                <a:latin typeface="Consolas"/>
              </a:rPr>
              <a:t>            </a:t>
            </a:r>
            <a:r>
              <a:rPr lang="en-US" sz="1000" err="1">
                <a:latin typeface="Consolas"/>
              </a:rPr>
              <a:t>initialDelaySeconds</a:t>
            </a:r>
            <a:r>
              <a:rPr lang="en-US" sz="1000">
                <a:latin typeface="Consolas"/>
              </a:rPr>
              <a:t>: 10</a:t>
            </a:r>
          </a:p>
          <a:p>
            <a:r>
              <a:rPr lang="en-US" sz="1000">
                <a:latin typeface="Consolas"/>
              </a:rPr>
              <a:t>            </a:t>
            </a:r>
            <a:r>
              <a:rPr lang="en-US" sz="1000" err="1">
                <a:latin typeface="Consolas"/>
              </a:rPr>
              <a:t>periodSeconds</a:t>
            </a:r>
            <a:r>
              <a:rPr lang="en-US" sz="1000">
                <a:latin typeface="Consolas"/>
              </a:rPr>
              <a:t>: 5</a:t>
            </a:r>
          </a:p>
          <a:p>
            <a:r>
              <a:rPr lang="en-US" sz="1000">
                <a:latin typeface="Consolas"/>
              </a:rPr>
              <a:t>          </a:t>
            </a:r>
            <a:r>
              <a:rPr lang="en-US" sz="1000" err="1">
                <a:latin typeface="Consolas"/>
              </a:rPr>
              <a:t>livenessProbe</a:t>
            </a:r>
            <a:r>
              <a:rPr lang="en-US" sz="1000">
                <a:latin typeface="Consolas"/>
              </a:rPr>
              <a:t>:</a:t>
            </a:r>
          </a:p>
          <a:p>
            <a:r>
              <a:rPr lang="en-US" sz="1000">
                <a:latin typeface="Consolas"/>
              </a:rPr>
              <a:t>            exec:</a:t>
            </a:r>
          </a:p>
          <a:p>
            <a:r>
              <a:rPr lang="en-US" sz="1000">
                <a:latin typeface="Consolas"/>
              </a:rPr>
              <a:t>              command:</a:t>
            </a:r>
          </a:p>
          <a:p>
            <a:r>
              <a:rPr lang="en-US" sz="1000">
                <a:latin typeface="Consolas"/>
              </a:rPr>
              <a:t>                - </a:t>
            </a:r>
            <a:r>
              <a:rPr lang="en-US" sz="1000" err="1">
                <a:latin typeface="Consolas"/>
              </a:rPr>
              <a:t>sh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</a:rPr>
              <a:t>                - -c</a:t>
            </a:r>
          </a:p>
          <a:p>
            <a:r>
              <a:rPr lang="en-US" sz="1000">
                <a:latin typeface="Consolas"/>
              </a:rPr>
              <a:t>                - </a:t>
            </a:r>
            <a:r>
              <a:rPr lang="en-US" sz="1000" err="1">
                <a:latin typeface="Consolas"/>
              </a:rPr>
              <a:t>pg_isready</a:t>
            </a:r>
            <a:r>
              <a:rPr lang="en-US" sz="1000">
                <a:latin typeface="Consolas"/>
              </a:rPr>
              <a:t> -U "$POSTGRES_USER" -d "$POSTGRES_DB"</a:t>
            </a:r>
          </a:p>
          <a:p>
            <a:r>
              <a:rPr lang="en-US" sz="1000">
                <a:latin typeface="Consolas"/>
              </a:rPr>
              <a:t>            </a:t>
            </a:r>
            <a:r>
              <a:rPr lang="en-US" sz="1000" err="1">
                <a:latin typeface="Consolas"/>
              </a:rPr>
              <a:t>initialDelaySeconds</a:t>
            </a:r>
            <a:r>
              <a:rPr lang="en-US" sz="1000">
                <a:latin typeface="Consolas"/>
              </a:rPr>
              <a:t>: 30</a:t>
            </a:r>
          </a:p>
          <a:p>
            <a:r>
              <a:rPr lang="en-US" sz="1000">
                <a:latin typeface="Consolas"/>
              </a:rPr>
              <a:t>            </a:t>
            </a:r>
            <a:r>
              <a:rPr lang="en-US" sz="1000" err="1">
                <a:latin typeface="Consolas"/>
              </a:rPr>
              <a:t>periodSeconds</a:t>
            </a:r>
            <a:r>
              <a:rPr lang="en-US" sz="1000">
                <a:latin typeface="Consolas"/>
              </a:rPr>
              <a:t>: 10</a:t>
            </a:r>
          </a:p>
          <a:p>
            <a:r>
              <a:rPr lang="en-US" sz="1000">
                <a:latin typeface="Consolas"/>
              </a:rPr>
              <a:t>      volumes: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FD1DE2-2685-83AE-0B93-1A487B5665BD}"/>
              </a:ext>
            </a:extLst>
          </p:cNvPr>
          <p:cNvSpPr txBox="1"/>
          <p:nvPr/>
        </p:nvSpPr>
        <p:spPr>
          <a:xfrm>
            <a:off x="9069868" y="247095"/>
            <a:ext cx="2743199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latin typeface="Consolas"/>
              </a:rPr>
              <a:t>        - name: </a:t>
            </a:r>
            <a:r>
              <a:rPr lang="en-US" sz="1000" err="1">
                <a:latin typeface="Consolas"/>
              </a:rPr>
              <a:t>postgres</a:t>
            </a:r>
            <a:r>
              <a:rPr lang="en-US" sz="1000">
                <a:latin typeface="Consolas"/>
              </a:rPr>
              <a:t>-data</a:t>
            </a:r>
          </a:p>
          <a:p>
            <a:r>
              <a:rPr lang="en-US" sz="1000">
                <a:latin typeface="Consolas"/>
              </a:rPr>
              <a:t>          </a:t>
            </a:r>
            <a:r>
              <a:rPr lang="en-US" sz="1000" err="1">
                <a:latin typeface="Consolas"/>
              </a:rPr>
              <a:t>persistentVolumeClaim</a:t>
            </a:r>
            <a:r>
              <a:rPr lang="en-US" sz="1000">
                <a:latin typeface="Consolas"/>
              </a:rPr>
              <a:t>:</a:t>
            </a:r>
          </a:p>
          <a:p>
            <a:r>
              <a:rPr lang="en-US" sz="1000">
                <a:latin typeface="Consolas"/>
              </a:rPr>
              <a:t>            </a:t>
            </a:r>
            <a:r>
              <a:rPr lang="en-US" sz="1000" err="1">
                <a:latin typeface="Consolas"/>
              </a:rPr>
              <a:t>claimName</a:t>
            </a:r>
            <a:r>
              <a:rPr lang="en-US" sz="1000">
                <a:latin typeface="Consolas"/>
              </a:rPr>
              <a:t>: </a:t>
            </a:r>
            <a:r>
              <a:rPr lang="en-US" sz="1000" err="1">
                <a:latin typeface="Consolas"/>
              </a:rPr>
              <a:t>postgres-pvc</a:t>
            </a:r>
          </a:p>
          <a:p>
            <a:r>
              <a:rPr lang="en-US" sz="1000">
                <a:latin typeface="Consolas"/>
              </a:rPr>
              <a:t>---</a:t>
            </a:r>
          </a:p>
          <a:p>
            <a:r>
              <a:rPr lang="en-US" sz="1000" err="1">
                <a:latin typeface="Consolas"/>
              </a:rPr>
              <a:t>apiVersion</a:t>
            </a:r>
            <a:r>
              <a:rPr lang="en-US" sz="1000">
                <a:latin typeface="Consolas"/>
              </a:rPr>
              <a:t>: v1</a:t>
            </a:r>
          </a:p>
          <a:p>
            <a:r>
              <a:rPr lang="en-US" sz="1000">
                <a:latin typeface="Consolas"/>
              </a:rPr>
              <a:t>kind: Service</a:t>
            </a:r>
          </a:p>
          <a:p>
            <a:r>
              <a:rPr lang="en-US" sz="1000">
                <a:latin typeface="Consolas"/>
              </a:rPr>
              <a:t>metadata:</a:t>
            </a:r>
          </a:p>
          <a:p>
            <a:r>
              <a:rPr lang="en-US" sz="1000">
                <a:latin typeface="Consolas"/>
              </a:rPr>
              <a:t>  name: </a:t>
            </a:r>
            <a:r>
              <a:rPr lang="en-US" sz="1000" err="1">
                <a:latin typeface="Consolas"/>
              </a:rPr>
              <a:t>postgres</a:t>
            </a:r>
          </a:p>
          <a:p>
            <a:r>
              <a:rPr lang="en-US" sz="1000">
                <a:latin typeface="Consolas"/>
              </a:rPr>
              <a:t>  namespace: </a:t>
            </a:r>
            <a:r>
              <a:rPr lang="en-US" sz="1000" err="1">
                <a:latin typeface="Consolas"/>
              </a:rPr>
              <a:t>devops</a:t>
            </a:r>
            <a:r>
              <a:rPr lang="en-US" sz="1000">
                <a:latin typeface="Consolas"/>
              </a:rPr>
              <a:t>-assignment</a:t>
            </a:r>
          </a:p>
          <a:p>
            <a:r>
              <a:rPr lang="en-US" sz="1000">
                <a:latin typeface="Consolas"/>
              </a:rPr>
              <a:t>spec:</a:t>
            </a:r>
          </a:p>
          <a:p>
            <a:r>
              <a:rPr lang="en-US" sz="1000">
                <a:latin typeface="Consolas"/>
              </a:rPr>
              <a:t>  type: </a:t>
            </a:r>
            <a:r>
              <a:rPr lang="en-US" sz="1000" err="1">
                <a:latin typeface="Consolas"/>
              </a:rPr>
              <a:t>ClusterIP</a:t>
            </a:r>
          </a:p>
          <a:p>
            <a:r>
              <a:rPr lang="en-US" sz="1000">
                <a:latin typeface="Consolas"/>
              </a:rPr>
              <a:t>  selector:</a:t>
            </a:r>
          </a:p>
          <a:p>
            <a:r>
              <a:rPr lang="en-US" sz="1000">
                <a:latin typeface="Consolas"/>
              </a:rPr>
              <a:t>    app: </a:t>
            </a:r>
            <a:r>
              <a:rPr lang="en-US" sz="1000" err="1">
                <a:latin typeface="Consolas"/>
              </a:rPr>
              <a:t>postgres</a:t>
            </a:r>
          </a:p>
          <a:p>
            <a:r>
              <a:rPr lang="en-US" sz="1000">
                <a:latin typeface="Consolas"/>
              </a:rPr>
              <a:t>  ports:</a:t>
            </a:r>
          </a:p>
          <a:p>
            <a:r>
              <a:rPr lang="en-US" sz="1000">
                <a:latin typeface="Consolas"/>
              </a:rPr>
              <a:t>    - name: </a:t>
            </a:r>
            <a:r>
              <a:rPr lang="en-US" sz="1000" err="1">
                <a:latin typeface="Consolas"/>
              </a:rPr>
              <a:t>postgres</a:t>
            </a:r>
          </a:p>
          <a:p>
            <a:r>
              <a:rPr lang="en-US" sz="1000">
                <a:latin typeface="Consolas"/>
              </a:rPr>
              <a:t>      port: 5432</a:t>
            </a:r>
          </a:p>
          <a:p>
            <a:r>
              <a:rPr lang="en-US" sz="1000">
                <a:latin typeface="Consolas"/>
              </a:rPr>
              <a:t>      </a:t>
            </a:r>
            <a:r>
              <a:rPr lang="en-US" sz="1000" err="1">
                <a:latin typeface="Consolas"/>
              </a:rPr>
              <a:t>targetPort</a:t>
            </a:r>
            <a:r>
              <a:rPr lang="en-US" sz="1000">
                <a:latin typeface="Consolas"/>
              </a:rPr>
              <a:t>: 5432</a:t>
            </a:r>
          </a:p>
          <a:p>
            <a:r>
              <a:rPr lang="en-US" sz="1000">
                <a:latin typeface="Consolas"/>
              </a:rPr>
              <a:t>EOF</a:t>
            </a: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539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8DD736-55BE-1AF7-A8A0-2F3BE8D3E69C}"/>
              </a:ext>
            </a:extLst>
          </p:cNvPr>
          <p:cNvSpPr txBox="1"/>
          <p:nvPr/>
        </p:nvSpPr>
        <p:spPr>
          <a:xfrm>
            <a:off x="174420" y="101745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00CD0C-9E83-58F0-3A97-09A1509547A6}"/>
              </a:ext>
            </a:extLst>
          </p:cNvPr>
          <p:cNvSpPr txBox="1"/>
          <p:nvPr/>
        </p:nvSpPr>
        <p:spPr>
          <a:xfrm>
            <a:off x="200575" y="136618"/>
            <a:ext cx="1183484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6.2: Deploy</a:t>
            </a:r>
            <a:r>
              <a:rPr lang="en-US">
                <a:ea typeface="+mn-lt"/>
                <a:cs typeface="+mn-lt"/>
              </a:rPr>
              <a:t> the database</a:t>
            </a:r>
          </a:p>
          <a:p>
            <a:endParaRPr lang="en-US"/>
          </a:p>
          <a:p>
            <a:pPr marL="285750" indent="-285750">
              <a:buFont typeface="Calibri"/>
              <a:buChar char="-"/>
            </a:pPr>
            <a:r>
              <a:rPr lang="en-US"/>
              <a:t>kubectl apply -f k8s/</a:t>
            </a:r>
            <a:r>
              <a:rPr lang="en-US" err="1"/>
              <a:t>postgres.yaml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CD651C-B67E-2A61-473C-D73D8D97E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2794"/>
            <a:ext cx="12192000" cy="20450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69D36C-078F-DE36-4771-9097F8308D52}"/>
              </a:ext>
            </a:extLst>
          </p:cNvPr>
          <p:cNvSpPr txBox="1"/>
          <p:nvPr/>
        </p:nvSpPr>
        <p:spPr>
          <a:xfrm>
            <a:off x="93026" y="3628082"/>
            <a:ext cx="119395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Wait until the PostgreSQL Pod shows </a:t>
            </a:r>
            <a:r>
              <a:rPr lang="en-US">
                <a:latin typeface="Consolas"/>
              </a:rPr>
              <a:t>Running</a:t>
            </a:r>
            <a:r>
              <a:rPr lang="en-US">
                <a:ea typeface="+mn-lt"/>
                <a:cs typeface="+mn-lt"/>
              </a:rPr>
              <a:t> and </a:t>
            </a:r>
            <a:r>
              <a:rPr lang="en-US">
                <a:latin typeface="Consolas"/>
              </a:rPr>
              <a:t>1/1</a:t>
            </a:r>
            <a:r>
              <a:rPr lang="en-US">
                <a:ea typeface="+mn-lt"/>
                <a:cs typeface="+mn-lt"/>
              </a:rPr>
              <a:t> ready.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B697BF-0449-48C9-A056-334CC4BC0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901" y="3993225"/>
            <a:ext cx="12192000" cy="82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136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CDA225-385F-9588-8F11-33066FC5EFEF}"/>
              </a:ext>
            </a:extLst>
          </p:cNvPr>
          <p:cNvSpPr txBox="1"/>
          <p:nvPr/>
        </p:nvSpPr>
        <p:spPr>
          <a:xfrm>
            <a:off x="247095" y="43592"/>
            <a:ext cx="11689428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kubectl</a:t>
            </a:r>
            <a:r>
              <a:rPr lang="en-US"/>
              <a:t> get pods -n </a:t>
            </a:r>
            <a:r>
              <a:rPr lang="en-US" err="1"/>
              <a:t>devops</a:t>
            </a:r>
            <a:r>
              <a:rPr lang="en-US"/>
              <a:t>-assignment -o wide</a:t>
            </a:r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Check that the PostgreSQL Pod is running on your labelled node.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en-US" err="1">
                <a:ea typeface="+mn-lt"/>
                <a:cs typeface="+mn-lt"/>
              </a:rPr>
              <a:t>kubectl</a:t>
            </a:r>
            <a:r>
              <a:rPr lang="en-US">
                <a:ea typeface="+mn-lt"/>
                <a:cs typeface="+mn-lt"/>
              </a:rPr>
              <a:t> get pods -n </a:t>
            </a:r>
            <a:r>
              <a:rPr lang="en-US" err="1">
                <a:ea typeface="+mn-lt"/>
                <a:cs typeface="+mn-lt"/>
              </a:rPr>
              <a:t>devops</a:t>
            </a:r>
            <a:r>
              <a:rPr lang="en-US">
                <a:ea typeface="+mn-lt"/>
                <a:cs typeface="+mn-lt"/>
              </a:rPr>
              <a:t>-assignment -o wide</a:t>
            </a:r>
          </a:p>
          <a:p>
            <a:pPr marL="285750" indent="-285750">
              <a:buFont typeface="Calibri"/>
              <a:buChar char="-"/>
            </a:pP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Inspect its scheduling configuration:</a:t>
            </a:r>
          </a:p>
          <a:p>
            <a:endParaRPr lang="en-US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en-US" err="1">
                <a:ea typeface="+mn-lt"/>
                <a:cs typeface="+mn-lt"/>
              </a:rPr>
              <a:t>kubectl</a:t>
            </a:r>
            <a:r>
              <a:rPr lang="en-US">
                <a:ea typeface="+mn-lt"/>
                <a:cs typeface="+mn-lt"/>
              </a:rPr>
              <a:t> get deployment </a:t>
            </a:r>
            <a:r>
              <a:rPr lang="en-US" err="1">
                <a:ea typeface="+mn-lt"/>
                <a:cs typeface="+mn-lt"/>
              </a:rPr>
              <a:t>postgres</a:t>
            </a:r>
            <a:r>
              <a:rPr lang="en-US">
                <a:ea typeface="+mn-lt"/>
                <a:cs typeface="+mn-lt"/>
              </a:rPr>
              <a:t> -n </a:t>
            </a:r>
            <a:r>
              <a:rPr lang="en-US" err="1">
                <a:ea typeface="+mn-lt"/>
                <a:cs typeface="+mn-lt"/>
              </a:rPr>
              <a:t>devops</a:t>
            </a:r>
            <a:r>
              <a:rPr lang="en-US">
                <a:ea typeface="+mn-lt"/>
                <a:cs typeface="+mn-lt"/>
              </a:rPr>
              <a:t>-assignment -o </a:t>
            </a:r>
            <a:r>
              <a:rPr lang="en-US" err="1">
                <a:ea typeface="+mn-lt"/>
                <a:cs typeface="+mn-lt"/>
              </a:rPr>
              <a:t>yaml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39E4F8-7D5A-0D6A-DEF7-B0F7EC877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50038"/>
            <a:ext cx="12192000" cy="360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2480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1F9809-5A71-27EA-D562-00C85F034900}"/>
              </a:ext>
            </a:extLst>
          </p:cNvPr>
          <p:cNvSpPr txBox="1"/>
          <p:nvPr/>
        </p:nvSpPr>
        <p:spPr>
          <a:xfrm>
            <a:off x="219631" y="803200"/>
            <a:ext cx="11653520" cy="60016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Phase 7: Deploy the application and web backend</a:t>
            </a:r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We'll create two internal Services: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>
                <a:latin typeface="Consolas"/>
              </a:rPr>
              <a:t>api</a:t>
            </a:r>
            <a:r>
              <a:rPr lang="en-US">
                <a:latin typeface="Consolas"/>
              </a:rPr>
              <a:t>-service</a:t>
            </a:r>
            <a:r>
              <a:rPr lang="en-US">
                <a:ea typeface="+mn-lt"/>
                <a:cs typeface="+mn-lt"/>
              </a:rPr>
              <a:t> on port 5000, backed by your Python API.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latin typeface="Consolas"/>
              </a:rPr>
              <a:t>web-service</a:t>
            </a:r>
            <a:r>
              <a:rPr lang="en-US">
                <a:ea typeface="+mn-lt"/>
                <a:cs typeface="+mn-lt"/>
              </a:rPr>
              <a:t> on port 5678, backed by a lightweight HTTP echo container.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Both will be accessible through NGINX, while PostgreSQL remains internal.</a:t>
            </a:r>
            <a:endParaRPr lang="en-US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7.1 Create </a:t>
            </a:r>
            <a:r>
              <a:rPr lang="en-US">
                <a:latin typeface="Consolas"/>
              </a:rPr>
              <a:t>k8s/</a:t>
            </a:r>
            <a:r>
              <a:rPr lang="en-US" err="1">
                <a:latin typeface="Consolas"/>
              </a:rPr>
              <a:t>app.yaml</a:t>
            </a:r>
            <a:endParaRPr lang="en-US">
              <a:latin typeface="Consolas"/>
            </a:endParaRPr>
          </a:p>
          <a:p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</a:rPr>
              <a:t>cat &gt; k8s/</a:t>
            </a:r>
            <a:r>
              <a:rPr lang="en-US" sz="1000" err="1">
                <a:latin typeface="Consolas"/>
              </a:rPr>
              <a:t>app.yaml</a:t>
            </a:r>
            <a:r>
              <a:rPr lang="en-US" sz="1000">
                <a:latin typeface="Consolas"/>
              </a:rPr>
              <a:t> &lt;&lt;'EOF'</a:t>
            </a:r>
            <a:endParaRPr lang="en-US" sz="1000"/>
          </a:p>
          <a:p>
            <a:r>
              <a:rPr lang="en-US" sz="1000" err="1">
                <a:latin typeface="Consolas"/>
              </a:rPr>
              <a:t>apiVersion</a:t>
            </a:r>
            <a:r>
              <a:rPr lang="en-US" sz="1000">
                <a:latin typeface="Consolas"/>
              </a:rPr>
              <a:t>: apps/v1</a:t>
            </a:r>
            <a:endParaRPr lang="en-US" sz="1000"/>
          </a:p>
          <a:p>
            <a:r>
              <a:rPr lang="en-US" sz="1000">
                <a:latin typeface="Consolas"/>
              </a:rPr>
              <a:t>kind: Deployment</a:t>
            </a:r>
            <a:endParaRPr lang="en-US" sz="1000"/>
          </a:p>
          <a:p>
            <a:r>
              <a:rPr lang="en-US" sz="1000">
                <a:latin typeface="Consolas"/>
              </a:rPr>
              <a:t>metadata:</a:t>
            </a:r>
            <a:endParaRPr lang="en-US" sz="1000"/>
          </a:p>
          <a:p>
            <a:r>
              <a:rPr lang="en-US" sz="1000">
                <a:latin typeface="Consolas"/>
              </a:rPr>
              <a:t>  name: notes-</a:t>
            </a:r>
            <a:r>
              <a:rPr lang="en-US" sz="1000" err="1">
                <a:latin typeface="Consolas"/>
              </a:rPr>
              <a:t>api</a:t>
            </a:r>
            <a:endParaRPr lang="en-US" sz="1000" err="1"/>
          </a:p>
          <a:p>
            <a:r>
              <a:rPr lang="en-US" sz="1000">
                <a:latin typeface="Consolas"/>
              </a:rPr>
              <a:t>  namespace: </a:t>
            </a:r>
            <a:r>
              <a:rPr lang="en-US" sz="1000" err="1">
                <a:latin typeface="Consolas"/>
              </a:rPr>
              <a:t>devops</a:t>
            </a:r>
            <a:r>
              <a:rPr lang="en-US" sz="1000">
                <a:latin typeface="Consolas"/>
              </a:rPr>
              <a:t>-assignment</a:t>
            </a:r>
            <a:endParaRPr lang="en-US" sz="1000"/>
          </a:p>
          <a:p>
            <a:r>
              <a:rPr lang="en-US" sz="1000">
                <a:latin typeface="Consolas"/>
              </a:rPr>
              <a:t>spec:</a:t>
            </a:r>
            <a:endParaRPr lang="en-US" sz="1000"/>
          </a:p>
          <a:p>
            <a:r>
              <a:rPr lang="en-US" sz="1000">
                <a:latin typeface="Consolas"/>
              </a:rPr>
              <a:t>  replicas: 1</a:t>
            </a:r>
            <a:endParaRPr lang="en-US" sz="1000"/>
          </a:p>
          <a:p>
            <a:r>
              <a:rPr lang="en-US" sz="1000">
                <a:latin typeface="Consolas"/>
              </a:rPr>
              <a:t>  selector:</a:t>
            </a:r>
            <a:endParaRPr lang="en-US" sz="1000"/>
          </a:p>
          <a:p>
            <a:r>
              <a:rPr lang="en-US" sz="1000">
                <a:latin typeface="Consolas"/>
              </a:rPr>
              <a:t>    </a:t>
            </a:r>
            <a:r>
              <a:rPr lang="en-US" sz="1000" err="1">
                <a:latin typeface="Consolas"/>
              </a:rPr>
              <a:t>matchLabels</a:t>
            </a:r>
            <a:r>
              <a:rPr lang="en-US" sz="1000">
                <a:latin typeface="Consolas"/>
              </a:rPr>
              <a:t>:</a:t>
            </a:r>
            <a:endParaRPr lang="en-US" sz="1000"/>
          </a:p>
          <a:p>
            <a:r>
              <a:rPr lang="en-US" sz="1000">
                <a:latin typeface="Consolas"/>
              </a:rPr>
              <a:t>      app: notes-</a:t>
            </a:r>
            <a:r>
              <a:rPr lang="en-US" sz="1000" err="1">
                <a:latin typeface="Consolas"/>
              </a:rPr>
              <a:t>api</a:t>
            </a:r>
            <a:endParaRPr lang="en-US" sz="1000" err="1"/>
          </a:p>
          <a:p>
            <a:r>
              <a:rPr lang="en-US" sz="1000">
                <a:latin typeface="Consolas"/>
              </a:rPr>
              <a:t>  template:</a:t>
            </a:r>
            <a:endParaRPr lang="en-US" sz="1000"/>
          </a:p>
          <a:p>
            <a:r>
              <a:rPr lang="en-US" sz="1000">
                <a:latin typeface="Consolas"/>
              </a:rPr>
              <a:t>    metadata:</a:t>
            </a:r>
            <a:endParaRPr lang="en-US" sz="1000"/>
          </a:p>
          <a:p>
            <a:r>
              <a:rPr lang="en-US" sz="1000">
                <a:latin typeface="Consolas"/>
              </a:rPr>
              <a:t>      labels:</a:t>
            </a:r>
            <a:endParaRPr lang="en-US" sz="1000"/>
          </a:p>
          <a:p>
            <a:r>
              <a:rPr lang="en-US" sz="1000">
                <a:latin typeface="Consolas"/>
              </a:rPr>
              <a:t>        app: notes-</a:t>
            </a:r>
            <a:r>
              <a:rPr lang="en-US" sz="1000" err="1">
                <a:latin typeface="Consolas"/>
              </a:rPr>
              <a:t>api</a:t>
            </a:r>
            <a:endParaRPr lang="en-US" sz="1000" err="1"/>
          </a:p>
          <a:p>
            <a:r>
              <a:rPr lang="en-US" sz="1000">
                <a:latin typeface="Consolas"/>
              </a:rPr>
              <a:t>    spec:</a:t>
            </a:r>
            <a:endParaRPr lang="en-US" sz="1000"/>
          </a:p>
          <a:p>
            <a:r>
              <a:rPr lang="en-US" sz="1000">
                <a:latin typeface="Consolas"/>
              </a:rPr>
              <a:t>      containers:</a:t>
            </a:r>
            <a:endParaRPr lang="en-US" sz="1000"/>
          </a:p>
          <a:p>
            <a:r>
              <a:rPr lang="en-US" sz="1000">
                <a:latin typeface="Consolas"/>
              </a:rPr>
              <a:t>        - name: notes-</a:t>
            </a:r>
            <a:r>
              <a:rPr lang="en-US" sz="1000" err="1">
                <a:latin typeface="Consolas"/>
              </a:rPr>
              <a:t>api</a:t>
            </a:r>
            <a:endParaRPr lang="en-US" sz="1000" err="1"/>
          </a:p>
          <a:p>
            <a:r>
              <a:rPr lang="en-US" sz="1000">
                <a:latin typeface="Consolas"/>
              </a:rPr>
              <a:t>          image: devops-notes-api:1.0</a:t>
            </a:r>
            <a:endParaRPr lang="en-US" sz="1000"/>
          </a:p>
          <a:p>
            <a:r>
              <a:rPr lang="en-US" sz="1000">
                <a:latin typeface="Consolas"/>
              </a:rPr>
              <a:t>          </a:t>
            </a:r>
            <a:r>
              <a:rPr lang="en-US" sz="1000" err="1">
                <a:latin typeface="Consolas"/>
              </a:rPr>
              <a:t>imagePullPolicy</a:t>
            </a:r>
            <a:r>
              <a:rPr lang="en-US" sz="1000">
                <a:latin typeface="Consolas"/>
              </a:rPr>
              <a:t>: </a:t>
            </a:r>
            <a:r>
              <a:rPr lang="en-US" sz="1000" err="1">
                <a:latin typeface="Consolas"/>
              </a:rPr>
              <a:t>IfNotPresent</a:t>
            </a:r>
            <a:endParaRPr lang="en-US" sz="1000" err="1"/>
          </a:p>
          <a:p>
            <a:r>
              <a:rPr lang="en-US" sz="1000">
                <a:latin typeface="Consolas"/>
              </a:rPr>
              <a:t>          ports:</a:t>
            </a:r>
            <a:endParaRPr lang="en-US" sz="1000"/>
          </a:p>
          <a:p>
            <a:r>
              <a:rPr lang="en-US" sz="1000">
                <a:latin typeface="Consolas"/>
              </a:rPr>
              <a:t>            - </a:t>
            </a:r>
            <a:r>
              <a:rPr lang="en-US" sz="1000" err="1">
                <a:latin typeface="Consolas"/>
              </a:rPr>
              <a:t>containerPort</a:t>
            </a:r>
            <a:r>
              <a:rPr lang="en-US" sz="1000">
                <a:latin typeface="Consolas"/>
              </a:rPr>
              <a:t>: 5000</a:t>
            </a:r>
            <a:endParaRPr lang="en-US" sz="1000"/>
          </a:p>
          <a:p>
            <a:r>
              <a:rPr lang="en-US" sz="1000">
                <a:latin typeface="Consolas"/>
              </a:rPr>
              <a:t>          env:</a:t>
            </a:r>
            <a:endParaRPr lang="en-US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65100-C593-1167-CCA4-6452B7DF67E1}"/>
              </a:ext>
            </a:extLst>
          </p:cNvPr>
          <p:cNvSpPr txBox="1"/>
          <p:nvPr/>
        </p:nvSpPr>
        <p:spPr>
          <a:xfrm>
            <a:off x="3298254" y="2617779"/>
            <a:ext cx="2743200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latin typeface="Consolas"/>
              </a:rPr>
              <a:t>            - name: DB_HOST</a:t>
            </a:r>
          </a:p>
          <a:p>
            <a:r>
              <a:rPr lang="en-US" sz="1000">
                <a:latin typeface="Consolas"/>
              </a:rPr>
              <a:t>              value: </a:t>
            </a:r>
            <a:r>
              <a:rPr lang="en-US" sz="1000" err="1">
                <a:latin typeface="Consolas"/>
              </a:rPr>
              <a:t>postgres</a:t>
            </a:r>
          </a:p>
          <a:p>
            <a:r>
              <a:rPr lang="en-US" sz="1000">
                <a:latin typeface="Consolas"/>
              </a:rPr>
              <a:t>            - name: DB_NAME</a:t>
            </a:r>
          </a:p>
          <a:p>
            <a:r>
              <a:rPr lang="en-US" sz="1000">
                <a:latin typeface="Consolas"/>
              </a:rPr>
              <a:t>              </a:t>
            </a:r>
            <a:r>
              <a:rPr lang="en-US" sz="1000" err="1">
                <a:latin typeface="Consolas"/>
              </a:rPr>
              <a:t>valueFrom</a:t>
            </a:r>
            <a:r>
              <a:rPr lang="en-US" sz="1000">
                <a:latin typeface="Consolas"/>
              </a:rPr>
              <a:t>:</a:t>
            </a:r>
          </a:p>
          <a:p>
            <a:r>
              <a:rPr lang="en-US" sz="1000">
                <a:latin typeface="Consolas"/>
              </a:rPr>
              <a:t>                </a:t>
            </a:r>
            <a:r>
              <a:rPr lang="en-US" sz="1000" err="1">
                <a:latin typeface="Consolas"/>
              </a:rPr>
              <a:t>secretKeyRef</a:t>
            </a:r>
            <a:r>
              <a:rPr lang="en-US" sz="1000">
                <a:latin typeface="Consolas"/>
              </a:rPr>
              <a:t>:</a:t>
            </a:r>
          </a:p>
          <a:p>
            <a:r>
              <a:rPr lang="en-US" sz="1000">
                <a:latin typeface="Consolas"/>
              </a:rPr>
              <a:t>                  name: </a:t>
            </a:r>
            <a:r>
              <a:rPr lang="en-US" sz="1000" err="1">
                <a:latin typeface="Consolas"/>
              </a:rPr>
              <a:t>postgres</a:t>
            </a:r>
            <a:r>
              <a:rPr lang="en-US" sz="1000">
                <a:latin typeface="Consolas"/>
              </a:rPr>
              <a:t>-secret</a:t>
            </a:r>
          </a:p>
          <a:p>
            <a:r>
              <a:rPr lang="en-US" sz="1000">
                <a:latin typeface="Consolas"/>
              </a:rPr>
              <a:t>                  key: POSTGRES_DB</a:t>
            </a:r>
          </a:p>
          <a:p>
            <a:r>
              <a:rPr lang="en-US" sz="1000">
                <a:latin typeface="Consolas"/>
              </a:rPr>
              <a:t>            - name: DB_USER</a:t>
            </a:r>
          </a:p>
          <a:p>
            <a:r>
              <a:rPr lang="en-US" sz="1000">
                <a:latin typeface="Consolas"/>
              </a:rPr>
              <a:t>              </a:t>
            </a:r>
            <a:r>
              <a:rPr lang="en-US" sz="1000" err="1">
                <a:latin typeface="Consolas"/>
              </a:rPr>
              <a:t>valueFrom</a:t>
            </a:r>
            <a:r>
              <a:rPr lang="en-US" sz="1000">
                <a:latin typeface="Consolas"/>
              </a:rPr>
              <a:t>:</a:t>
            </a:r>
          </a:p>
          <a:p>
            <a:r>
              <a:rPr lang="en-US" sz="1000">
                <a:latin typeface="Consolas"/>
              </a:rPr>
              <a:t>                </a:t>
            </a:r>
            <a:r>
              <a:rPr lang="en-US" sz="1000" err="1">
                <a:latin typeface="Consolas"/>
              </a:rPr>
              <a:t>secretKeyRef</a:t>
            </a:r>
            <a:r>
              <a:rPr lang="en-US" sz="1000">
                <a:latin typeface="Consolas"/>
              </a:rPr>
              <a:t>:</a:t>
            </a:r>
          </a:p>
          <a:p>
            <a:r>
              <a:rPr lang="en-US" sz="1000">
                <a:latin typeface="Consolas"/>
              </a:rPr>
              <a:t>                  name: </a:t>
            </a:r>
            <a:r>
              <a:rPr lang="en-US" sz="1000" err="1">
                <a:latin typeface="Consolas"/>
              </a:rPr>
              <a:t>postgres</a:t>
            </a:r>
            <a:r>
              <a:rPr lang="en-US" sz="1000">
                <a:latin typeface="Consolas"/>
              </a:rPr>
              <a:t>-secret</a:t>
            </a:r>
          </a:p>
          <a:p>
            <a:r>
              <a:rPr lang="en-US" sz="1000">
                <a:latin typeface="Consolas"/>
              </a:rPr>
              <a:t>                  key: POSTGRES_USER</a:t>
            </a:r>
          </a:p>
          <a:p>
            <a:r>
              <a:rPr lang="en-US" sz="1000">
                <a:latin typeface="Consolas"/>
              </a:rPr>
              <a:t>            - name: DB_PASSWORD</a:t>
            </a:r>
          </a:p>
          <a:p>
            <a:r>
              <a:rPr lang="en-US" sz="1000">
                <a:latin typeface="Consolas"/>
              </a:rPr>
              <a:t>              </a:t>
            </a:r>
            <a:r>
              <a:rPr lang="en-US" sz="1000" err="1">
                <a:latin typeface="Consolas"/>
              </a:rPr>
              <a:t>valueFrom</a:t>
            </a:r>
            <a:r>
              <a:rPr lang="en-US" sz="1000">
                <a:latin typeface="Consolas"/>
              </a:rPr>
              <a:t>:</a:t>
            </a:r>
          </a:p>
          <a:p>
            <a:r>
              <a:rPr lang="en-US" sz="1000">
                <a:latin typeface="Consolas"/>
              </a:rPr>
              <a:t>                </a:t>
            </a:r>
            <a:r>
              <a:rPr lang="en-US" sz="1000" err="1">
                <a:latin typeface="Consolas"/>
              </a:rPr>
              <a:t>secretKeyRef</a:t>
            </a:r>
            <a:r>
              <a:rPr lang="en-US" sz="1000">
                <a:latin typeface="Consolas"/>
              </a:rPr>
              <a:t>:</a:t>
            </a:r>
          </a:p>
          <a:p>
            <a:r>
              <a:rPr lang="en-US" sz="1000">
                <a:latin typeface="Consolas"/>
              </a:rPr>
              <a:t>                  name: </a:t>
            </a:r>
            <a:r>
              <a:rPr lang="en-US" sz="1000" err="1">
                <a:latin typeface="Consolas"/>
              </a:rPr>
              <a:t>postgres</a:t>
            </a:r>
            <a:r>
              <a:rPr lang="en-US" sz="1000">
                <a:latin typeface="Consolas"/>
              </a:rPr>
              <a:t>-secret</a:t>
            </a:r>
          </a:p>
          <a:p>
            <a:r>
              <a:rPr lang="en-US" sz="1000">
                <a:latin typeface="Consolas"/>
              </a:rPr>
              <a:t>                  key: POSTGRES_PASSWORD</a:t>
            </a:r>
          </a:p>
          <a:p>
            <a:r>
              <a:rPr lang="en-US" sz="1000">
                <a:latin typeface="Consolas"/>
              </a:rPr>
              <a:t>          </a:t>
            </a:r>
            <a:r>
              <a:rPr lang="en-US" sz="1000" err="1">
                <a:latin typeface="Consolas"/>
              </a:rPr>
              <a:t>readinessProbe</a:t>
            </a:r>
            <a:r>
              <a:rPr lang="en-US" sz="1000">
                <a:latin typeface="Consolas"/>
              </a:rPr>
              <a:t>:</a:t>
            </a:r>
          </a:p>
          <a:p>
            <a:r>
              <a:rPr lang="en-US" sz="1000">
                <a:latin typeface="Consolas"/>
              </a:rPr>
              <a:t>            </a:t>
            </a:r>
            <a:r>
              <a:rPr lang="en-US" sz="1000" err="1">
                <a:latin typeface="Consolas"/>
              </a:rPr>
              <a:t>httpGet</a:t>
            </a:r>
            <a:r>
              <a:rPr lang="en-US" sz="1000">
                <a:latin typeface="Consolas"/>
              </a:rPr>
              <a:t>:</a:t>
            </a:r>
          </a:p>
          <a:p>
            <a:r>
              <a:rPr lang="en-US" sz="1000">
                <a:latin typeface="Consolas"/>
              </a:rPr>
              <a:t>              path: /health</a:t>
            </a:r>
          </a:p>
          <a:p>
            <a:r>
              <a:rPr lang="en-US" sz="1000">
                <a:latin typeface="Consolas"/>
              </a:rPr>
              <a:t>              port: 5000</a:t>
            </a:r>
          </a:p>
          <a:p>
            <a:r>
              <a:rPr lang="en-US" sz="1000">
                <a:latin typeface="Consolas"/>
              </a:rPr>
              <a:t>            </a:t>
            </a:r>
            <a:r>
              <a:rPr lang="en-US" sz="1000" err="1">
                <a:latin typeface="Consolas"/>
              </a:rPr>
              <a:t>initialDelaySeconds</a:t>
            </a:r>
            <a:r>
              <a:rPr lang="en-US" sz="1000">
                <a:latin typeface="Consolas"/>
              </a:rPr>
              <a:t>: 5</a:t>
            </a:r>
          </a:p>
          <a:p>
            <a:r>
              <a:rPr lang="en-US" sz="1000">
                <a:latin typeface="Consolas"/>
              </a:rPr>
              <a:t>            </a:t>
            </a:r>
            <a:r>
              <a:rPr lang="en-US" sz="1000" err="1">
                <a:latin typeface="Consolas"/>
              </a:rPr>
              <a:t>periodSeconds</a:t>
            </a:r>
            <a:r>
              <a:rPr lang="en-US" sz="1000">
                <a:latin typeface="Consolas"/>
              </a:rPr>
              <a:t>: 5</a:t>
            </a:r>
          </a:p>
          <a:p>
            <a:endParaRPr lang="en-US" sz="1000">
              <a:latin typeface="Consola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FB08F5-5582-CA59-08D1-B00215A7539B}"/>
              </a:ext>
            </a:extLst>
          </p:cNvPr>
          <p:cNvSpPr txBox="1"/>
          <p:nvPr/>
        </p:nvSpPr>
        <p:spPr>
          <a:xfrm>
            <a:off x="6205874" y="2587649"/>
            <a:ext cx="2743200" cy="51090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latin typeface="Consolas"/>
              </a:rPr>
              <a:t>          </a:t>
            </a:r>
            <a:r>
              <a:rPr lang="en-US" sz="1000" err="1">
                <a:latin typeface="Consolas"/>
              </a:rPr>
              <a:t>livenessProbe</a:t>
            </a:r>
            <a:r>
              <a:rPr lang="en-US" sz="1000">
                <a:latin typeface="Consolas"/>
              </a:rPr>
              <a:t>:</a:t>
            </a:r>
          </a:p>
          <a:p>
            <a:r>
              <a:rPr lang="en-US" sz="1000">
                <a:latin typeface="Consolas"/>
              </a:rPr>
              <a:t>            </a:t>
            </a:r>
            <a:r>
              <a:rPr lang="en-US" sz="1000" err="1">
                <a:latin typeface="Consolas"/>
              </a:rPr>
              <a:t>tcpSocket</a:t>
            </a:r>
            <a:r>
              <a:rPr lang="en-US" sz="1000">
                <a:latin typeface="Consolas"/>
              </a:rPr>
              <a:t>:</a:t>
            </a:r>
          </a:p>
          <a:p>
            <a:r>
              <a:rPr lang="en-US" sz="1000">
                <a:latin typeface="Consolas"/>
              </a:rPr>
              <a:t>              port: 5000</a:t>
            </a:r>
          </a:p>
          <a:p>
            <a:r>
              <a:rPr lang="en-US" sz="1000">
                <a:latin typeface="Consolas"/>
              </a:rPr>
              <a:t>            </a:t>
            </a:r>
            <a:r>
              <a:rPr lang="en-US" sz="1000" err="1">
                <a:latin typeface="Consolas"/>
              </a:rPr>
              <a:t>initialDelaySeconds</a:t>
            </a:r>
            <a:r>
              <a:rPr lang="en-US" sz="1000">
                <a:latin typeface="Consolas"/>
              </a:rPr>
              <a:t>: 20</a:t>
            </a:r>
          </a:p>
          <a:p>
            <a:r>
              <a:rPr lang="en-US" sz="1000">
                <a:latin typeface="Consolas"/>
              </a:rPr>
              <a:t>            </a:t>
            </a:r>
            <a:r>
              <a:rPr lang="en-US" sz="1000" err="1">
                <a:latin typeface="Consolas"/>
              </a:rPr>
              <a:t>periodSeconds</a:t>
            </a:r>
            <a:r>
              <a:rPr lang="en-US" sz="1000">
                <a:latin typeface="Consolas"/>
              </a:rPr>
              <a:t>: 10</a:t>
            </a:r>
          </a:p>
          <a:p>
            <a:r>
              <a:rPr lang="en-US" sz="1000">
                <a:latin typeface="Consolas"/>
              </a:rPr>
              <a:t>---</a:t>
            </a:r>
          </a:p>
          <a:p>
            <a:r>
              <a:rPr lang="en-US" sz="1000" err="1">
                <a:latin typeface="Consolas"/>
              </a:rPr>
              <a:t>apiVersion</a:t>
            </a:r>
            <a:r>
              <a:rPr lang="en-US" sz="1000">
                <a:latin typeface="Consolas"/>
              </a:rPr>
              <a:t>: v1</a:t>
            </a:r>
          </a:p>
          <a:p>
            <a:r>
              <a:rPr lang="en-US" sz="1000">
                <a:latin typeface="Consolas"/>
              </a:rPr>
              <a:t>kind: Service</a:t>
            </a:r>
          </a:p>
          <a:p>
            <a:r>
              <a:rPr lang="en-US" sz="1000">
                <a:latin typeface="Consolas"/>
              </a:rPr>
              <a:t>metadata:</a:t>
            </a:r>
          </a:p>
          <a:p>
            <a:r>
              <a:rPr lang="en-US" sz="1000">
                <a:latin typeface="Consolas"/>
              </a:rPr>
              <a:t>  name: </a:t>
            </a:r>
            <a:r>
              <a:rPr lang="en-US" sz="1000" err="1">
                <a:latin typeface="Consolas"/>
              </a:rPr>
              <a:t>api</a:t>
            </a:r>
            <a:r>
              <a:rPr lang="en-US" sz="1000">
                <a:latin typeface="Consolas"/>
              </a:rPr>
              <a:t>-service</a:t>
            </a:r>
          </a:p>
          <a:p>
            <a:r>
              <a:rPr lang="en-US" sz="1000">
                <a:latin typeface="Consolas"/>
              </a:rPr>
              <a:t>  namespace: </a:t>
            </a:r>
            <a:r>
              <a:rPr lang="en-US" sz="1000" err="1">
                <a:latin typeface="Consolas"/>
              </a:rPr>
              <a:t>devops</a:t>
            </a:r>
            <a:r>
              <a:rPr lang="en-US" sz="1000">
                <a:latin typeface="Consolas"/>
              </a:rPr>
              <a:t>-assignment</a:t>
            </a:r>
          </a:p>
          <a:p>
            <a:r>
              <a:rPr lang="en-US" sz="1000">
                <a:latin typeface="Consolas"/>
              </a:rPr>
              <a:t>spec:</a:t>
            </a:r>
          </a:p>
          <a:p>
            <a:r>
              <a:rPr lang="en-US" sz="1000">
                <a:latin typeface="Consolas"/>
              </a:rPr>
              <a:t>  type: </a:t>
            </a:r>
            <a:r>
              <a:rPr lang="en-US" sz="1000" err="1">
                <a:latin typeface="Consolas"/>
              </a:rPr>
              <a:t>ClusterIP</a:t>
            </a:r>
          </a:p>
          <a:p>
            <a:r>
              <a:rPr lang="en-US" sz="1000">
                <a:latin typeface="Consolas"/>
              </a:rPr>
              <a:t>  selector:</a:t>
            </a:r>
          </a:p>
          <a:p>
            <a:r>
              <a:rPr lang="en-US" sz="1000">
                <a:latin typeface="Consolas"/>
              </a:rPr>
              <a:t>    app: notes-</a:t>
            </a:r>
            <a:r>
              <a:rPr lang="en-US" sz="1000" err="1">
                <a:latin typeface="Consolas"/>
              </a:rPr>
              <a:t>api</a:t>
            </a:r>
          </a:p>
          <a:p>
            <a:r>
              <a:rPr lang="en-US" sz="1000">
                <a:latin typeface="Consolas"/>
              </a:rPr>
              <a:t>  ports:</a:t>
            </a:r>
          </a:p>
          <a:p>
            <a:r>
              <a:rPr lang="en-US" sz="1000">
                <a:latin typeface="Consolas"/>
              </a:rPr>
              <a:t>    - port: 5000</a:t>
            </a:r>
          </a:p>
          <a:p>
            <a:r>
              <a:rPr lang="en-US" sz="1000">
                <a:latin typeface="Consolas"/>
              </a:rPr>
              <a:t>      </a:t>
            </a:r>
            <a:r>
              <a:rPr lang="en-US" sz="1000" err="1">
                <a:latin typeface="Consolas"/>
              </a:rPr>
              <a:t>targetPort</a:t>
            </a:r>
            <a:r>
              <a:rPr lang="en-US" sz="1000">
                <a:latin typeface="Consolas"/>
              </a:rPr>
              <a:t>: 5000</a:t>
            </a:r>
          </a:p>
          <a:p>
            <a:r>
              <a:rPr lang="en-US" sz="1000">
                <a:latin typeface="Consolas"/>
              </a:rPr>
              <a:t>---</a:t>
            </a:r>
          </a:p>
          <a:p>
            <a:r>
              <a:rPr lang="en-US" sz="1000" err="1">
                <a:latin typeface="Consolas"/>
              </a:rPr>
              <a:t>apiVersion</a:t>
            </a:r>
            <a:r>
              <a:rPr lang="en-US" sz="1000">
                <a:latin typeface="Consolas"/>
              </a:rPr>
              <a:t>: apps/v1</a:t>
            </a:r>
          </a:p>
          <a:p>
            <a:r>
              <a:rPr lang="en-US" sz="1000">
                <a:latin typeface="Consolas"/>
              </a:rPr>
              <a:t>kind: Deployment</a:t>
            </a:r>
          </a:p>
          <a:p>
            <a:r>
              <a:rPr lang="en-US" sz="1000">
                <a:latin typeface="Consolas"/>
              </a:rPr>
              <a:t>metadata:</a:t>
            </a:r>
          </a:p>
          <a:p>
            <a:r>
              <a:rPr lang="en-US" sz="1000">
                <a:latin typeface="Consolas"/>
              </a:rPr>
              <a:t>  name: web-backend</a:t>
            </a:r>
          </a:p>
          <a:p>
            <a:r>
              <a:rPr lang="en-US" sz="1000">
                <a:latin typeface="Consolas"/>
              </a:rPr>
              <a:t>  namespace: </a:t>
            </a:r>
            <a:r>
              <a:rPr lang="en-US" sz="1000" err="1">
                <a:latin typeface="Consolas"/>
              </a:rPr>
              <a:t>devops</a:t>
            </a:r>
            <a:r>
              <a:rPr lang="en-US" sz="1000">
                <a:latin typeface="Consolas"/>
              </a:rPr>
              <a:t>-assignment</a:t>
            </a:r>
          </a:p>
          <a:p>
            <a:r>
              <a:rPr lang="en-US" sz="1000">
                <a:latin typeface="Consolas"/>
              </a:rPr>
              <a:t>spec:</a:t>
            </a:r>
          </a:p>
          <a:p>
            <a:r>
              <a:rPr lang="en-US" sz="1000">
                <a:latin typeface="Consolas"/>
              </a:rPr>
              <a:t>  replicas: 1</a:t>
            </a:r>
          </a:p>
          <a:p>
            <a:r>
              <a:rPr lang="en-US" sz="1000">
                <a:latin typeface="Consolas"/>
              </a:rPr>
              <a:t>  selector:</a:t>
            </a:r>
          </a:p>
          <a:p>
            <a:r>
              <a:rPr lang="en-US" sz="1000">
                <a:latin typeface="Consolas"/>
              </a:rPr>
              <a:t>    </a:t>
            </a:r>
            <a:r>
              <a:rPr lang="en-US" sz="1000" err="1">
                <a:latin typeface="Consolas"/>
              </a:rPr>
              <a:t>matchLabels</a:t>
            </a:r>
            <a:r>
              <a:rPr lang="en-US" sz="1000">
                <a:latin typeface="Consolas"/>
              </a:rPr>
              <a:t>:</a:t>
            </a:r>
          </a:p>
          <a:p>
            <a:r>
              <a:rPr lang="en-US" sz="1000">
                <a:latin typeface="Consolas"/>
              </a:rPr>
              <a:t>      app: web-backend</a:t>
            </a:r>
          </a:p>
          <a:p>
            <a:endParaRPr lang="en-US"/>
          </a:p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3A8CA5-5E5E-0B21-80DD-61A89EC3795A}"/>
              </a:ext>
            </a:extLst>
          </p:cNvPr>
          <p:cNvSpPr txBox="1"/>
          <p:nvPr/>
        </p:nvSpPr>
        <p:spPr>
          <a:xfrm>
            <a:off x="9134269" y="2404313"/>
            <a:ext cx="2743200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latin typeface="Consolas"/>
              </a:rPr>
              <a:t>  template:</a:t>
            </a:r>
          </a:p>
          <a:p>
            <a:r>
              <a:rPr lang="en-US" sz="1000">
                <a:latin typeface="Consolas"/>
              </a:rPr>
              <a:t>    metadata:</a:t>
            </a:r>
          </a:p>
          <a:p>
            <a:r>
              <a:rPr lang="en-US" sz="1000">
                <a:latin typeface="Consolas"/>
              </a:rPr>
              <a:t>      labels:</a:t>
            </a:r>
          </a:p>
          <a:p>
            <a:r>
              <a:rPr lang="en-US" sz="1000">
                <a:latin typeface="Consolas"/>
              </a:rPr>
              <a:t>        app: web-backend</a:t>
            </a:r>
          </a:p>
          <a:p>
            <a:r>
              <a:rPr lang="en-US" sz="1000">
                <a:latin typeface="Consolas"/>
              </a:rPr>
              <a:t>    spec:</a:t>
            </a:r>
          </a:p>
          <a:p>
            <a:r>
              <a:rPr lang="en-US" sz="1000">
                <a:latin typeface="Consolas"/>
              </a:rPr>
              <a:t>      containers:</a:t>
            </a:r>
          </a:p>
          <a:p>
            <a:r>
              <a:rPr lang="en-US" sz="1000">
                <a:latin typeface="Consolas"/>
              </a:rPr>
              <a:t>        - name: web-backend</a:t>
            </a:r>
          </a:p>
          <a:p>
            <a:r>
              <a:rPr lang="en-US" sz="1000">
                <a:latin typeface="Consolas"/>
              </a:rPr>
              <a:t>          image: </a:t>
            </a:r>
            <a:r>
              <a:rPr lang="en-US" sz="1000" err="1">
                <a:latin typeface="Consolas"/>
              </a:rPr>
              <a:t>hashicorp</a:t>
            </a:r>
            <a:r>
              <a:rPr lang="en-US" sz="1000">
                <a:latin typeface="Consolas"/>
              </a:rPr>
              <a:t>/http-echo:1.0.0</a:t>
            </a:r>
          </a:p>
          <a:p>
            <a:r>
              <a:rPr lang="en-US" sz="1000">
                <a:latin typeface="Consolas"/>
              </a:rPr>
              <a:t>          </a:t>
            </a:r>
            <a:r>
              <a:rPr lang="en-US" sz="1000" err="1">
                <a:latin typeface="Consolas"/>
              </a:rPr>
              <a:t>args</a:t>
            </a:r>
            <a:r>
              <a:rPr lang="en-US" sz="1000">
                <a:latin typeface="Consolas"/>
              </a:rPr>
              <a:t>:</a:t>
            </a:r>
          </a:p>
          <a:p>
            <a:r>
              <a:rPr lang="en-US" sz="1000">
                <a:latin typeface="Consolas"/>
              </a:rPr>
              <a:t>            - "-listen=:5678"</a:t>
            </a:r>
          </a:p>
          <a:p>
            <a:r>
              <a:rPr lang="en-US" sz="1000">
                <a:latin typeface="Consolas"/>
              </a:rPr>
              <a:t>            - "-text=Web backend is working"</a:t>
            </a:r>
          </a:p>
          <a:p>
            <a:r>
              <a:rPr lang="en-US" sz="1000">
                <a:latin typeface="Consolas"/>
              </a:rPr>
              <a:t>          ports:</a:t>
            </a:r>
          </a:p>
          <a:p>
            <a:r>
              <a:rPr lang="en-US" sz="1000">
                <a:latin typeface="Consolas"/>
              </a:rPr>
              <a:t>            - </a:t>
            </a:r>
            <a:r>
              <a:rPr lang="en-US" sz="1000" err="1">
                <a:latin typeface="Consolas"/>
              </a:rPr>
              <a:t>containerPort</a:t>
            </a:r>
            <a:r>
              <a:rPr lang="en-US" sz="1000">
                <a:latin typeface="Consolas"/>
              </a:rPr>
              <a:t>: 5678</a:t>
            </a:r>
          </a:p>
          <a:p>
            <a:r>
              <a:rPr lang="en-US" sz="1000">
                <a:latin typeface="Consolas"/>
              </a:rPr>
              <a:t>---</a:t>
            </a:r>
          </a:p>
          <a:p>
            <a:r>
              <a:rPr lang="en-US" sz="1000" err="1">
                <a:latin typeface="Consolas"/>
              </a:rPr>
              <a:t>apiVersion</a:t>
            </a:r>
            <a:r>
              <a:rPr lang="en-US" sz="1000">
                <a:latin typeface="Consolas"/>
              </a:rPr>
              <a:t>: v1</a:t>
            </a:r>
          </a:p>
          <a:p>
            <a:r>
              <a:rPr lang="en-US" sz="1000">
                <a:latin typeface="Consolas"/>
              </a:rPr>
              <a:t>kind: Service</a:t>
            </a:r>
          </a:p>
          <a:p>
            <a:r>
              <a:rPr lang="en-US" sz="1000">
                <a:latin typeface="Consolas"/>
              </a:rPr>
              <a:t>metadata:</a:t>
            </a:r>
          </a:p>
          <a:p>
            <a:r>
              <a:rPr lang="en-US" sz="1000">
                <a:latin typeface="Consolas"/>
              </a:rPr>
              <a:t>  name: web-service</a:t>
            </a:r>
          </a:p>
          <a:p>
            <a:r>
              <a:rPr lang="en-US" sz="1000">
                <a:latin typeface="Consolas"/>
              </a:rPr>
              <a:t>  namespace: </a:t>
            </a:r>
            <a:r>
              <a:rPr lang="en-US" sz="1000" err="1">
                <a:latin typeface="Consolas"/>
              </a:rPr>
              <a:t>devops</a:t>
            </a:r>
            <a:r>
              <a:rPr lang="en-US" sz="1000">
                <a:latin typeface="Consolas"/>
              </a:rPr>
              <a:t>-assignment</a:t>
            </a:r>
          </a:p>
          <a:p>
            <a:r>
              <a:rPr lang="en-US" sz="1000">
                <a:latin typeface="Consolas"/>
              </a:rPr>
              <a:t>spec:</a:t>
            </a:r>
          </a:p>
          <a:p>
            <a:r>
              <a:rPr lang="en-US" sz="1000">
                <a:latin typeface="Consolas"/>
              </a:rPr>
              <a:t>  type: </a:t>
            </a:r>
            <a:r>
              <a:rPr lang="en-US" sz="1000" err="1">
                <a:latin typeface="Consolas"/>
              </a:rPr>
              <a:t>ClusterIP</a:t>
            </a:r>
          </a:p>
          <a:p>
            <a:r>
              <a:rPr lang="en-US" sz="1000">
                <a:latin typeface="Consolas"/>
              </a:rPr>
              <a:t>  selector:</a:t>
            </a:r>
          </a:p>
          <a:p>
            <a:r>
              <a:rPr lang="en-US" sz="1000">
                <a:latin typeface="Consolas"/>
              </a:rPr>
              <a:t>    app: web-backend</a:t>
            </a:r>
          </a:p>
          <a:p>
            <a:r>
              <a:rPr lang="en-US" sz="1000">
                <a:latin typeface="Consolas"/>
              </a:rPr>
              <a:t>  ports:</a:t>
            </a:r>
          </a:p>
          <a:p>
            <a:r>
              <a:rPr lang="en-US" sz="1000">
                <a:latin typeface="Consolas"/>
              </a:rPr>
              <a:t>    - port: 5678</a:t>
            </a:r>
          </a:p>
          <a:p>
            <a:r>
              <a:rPr lang="en-US" sz="1000">
                <a:latin typeface="Consolas"/>
              </a:rPr>
              <a:t>      </a:t>
            </a:r>
            <a:r>
              <a:rPr lang="en-US" sz="1000" err="1">
                <a:latin typeface="Consolas"/>
              </a:rPr>
              <a:t>targetPort</a:t>
            </a:r>
            <a:r>
              <a:rPr lang="en-US" sz="1000">
                <a:latin typeface="Consolas"/>
              </a:rPr>
              <a:t>: 5678</a:t>
            </a:r>
          </a:p>
          <a:p>
            <a:r>
              <a:rPr lang="en-US" sz="1000">
                <a:latin typeface="Consolas"/>
              </a:rPr>
              <a:t>EOF</a:t>
            </a: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827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E2BED3-1ED8-C764-AFE4-AC6B5DD1D24A}"/>
              </a:ext>
            </a:extLst>
          </p:cNvPr>
          <p:cNvSpPr txBox="1"/>
          <p:nvPr/>
        </p:nvSpPr>
        <p:spPr>
          <a:xfrm>
            <a:off x="301366" y="150683"/>
            <a:ext cx="1158240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7.2 Apply the application manifest</a:t>
            </a:r>
          </a:p>
          <a:p>
            <a:endParaRPr lang="en-US"/>
          </a:p>
          <a:p>
            <a:pPr marL="285750" indent="-285750">
              <a:buFont typeface="Calibri"/>
              <a:buChar char="-"/>
            </a:pPr>
            <a:r>
              <a:rPr lang="en-US" err="1"/>
              <a:t>kubectl</a:t>
            </a:r>
            <a:r>
              <a:rPr lang="en-US"/>
              <a:t> apply -f k8s/</a:t>
            </a:r>
            <a:r>
              <a:rPr lang="en-US" err="1"/>
              <a:t>app.yaml</a:t>
            </a:r>
            <a:endParaRPr lang="en-US"/>
          </a:p>
          <a:p>
            <a:pPr marL="285750" indent="-285750">
              <a:buFont typeface="Calibri"/>
              <a:buChar char="-"/>
            </a:pPr>
            <a:endParaRPr lang="en-US"/>
          </a:p>
          <a:p>
            <a:r>
              <a:rPr lang="en-US">
                <a:ea typeface="+mn-lt"/>
                <a:cs typeface="+mn-lt"/>
              </a:rPr>
              <a:t>Wait for the deployments</a:t>
            </a:r>
          </a:p>
          <a:p>
            <a:endParaRPr lang="en-US"/>
          </a:p>
          <a:p>
            <a:pPr marL="285750" indent="-285750">
              <a:buFont typeface="Calibri"/>
              <a:buChar char="-"/>
            </a:pPr>
            <a:r>
              <a:rPr lang="en-US" err="1"/>
              <a:t>kubectl</a:t>
            </a:r>
            <a:r>
              <a:rPr lang="en-US"/>
              <a:t> rollout status deployment/notes-</a:t>
            </a:r>
            <a:r>
              <a:rPr lang="en-US" err="1"/>
              <a:t>api</a:t>
            </a:r>
            <a:r>
              <a:rPr lang="en-US"/>
              <a:t> -n </a:t>
            </a:r>
            <a:r>
              <a:rPr lang="en-US" err="1"/>
              <a:t>devops</a:t>
            </a:r>
            <a:r>
              <a:rPr lang="en-US"/>
              <a:t>-assignment --timeout=180s</a:t>
            </a:r>
          </a:p>
          <a:p>
            <a:pPr marL="285750" indent="-285750">
              <a:buFont typeface="Calibri"/>
              <a:buChar char="-"/>
            </a:pPr>
            <a:endParaRPr lang="en-US"/>
          </a:p>
          <a:p>
            <a:pPr marL="285750" indent="-285750">
              <a:buFont typeface="Calibri"/>
              <a:buChar char="-"/>
            </a:pPr>
            <a:r>
              <a:rPr lang="en-US" err="1"/>
              <a:t>kubectl</a:t>
            </a:r>
            <a:r>
              <a:rPr lang="en-US"/>
              <a:t> rollout status deployment/web-backend -n </a:t>
            </a:r>
            <a:r>
              <a:rPr lang="en-US" err="1"/>
              <a:t>devops</a:t>
            </a:r>
            <a:r>
              <a:rPr lang="en-US"/>
              <a:t>-assignment --timeout=180s</a:t>
            </a:r>
          </a:p>
        </p:txBody>
      </p:sp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25F83B94-A7EC-EAA4-F99F-FD92F6E39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74530"/>
            <a:ext cx="12192000" cy="213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3483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15B82F6-86F7-81EE-05A6-1E2538BAD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4454"/>
            <a:ext cx="12192000" cy="25001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7A3F98-F48E-8EEA-A8CD-9099348FF90D}"/>
              </a:ext>
            </a:extLst>
          </p:cNvPr>
          <p:cNvSpPr txBox="1"/>
          <p:nvPr/>
        </p:nvSpPr>
        <p:spPr>
          <a:xfrm>
            <a:off x="136984" y="301366"/>
            <a:ext cx="1170432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Check the Pods and Services:</a:t>
            </a:r>
            <a:endParaRPr lang="en-US"/>
          </a:p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0554DC-2D4E-84FE-0B1A-614BE99811CF}"/>
              </a:ext>
            </a:extLst>
          </p:cNvPr>
          <p:cNvSpPr txBox="1"/>
          <p:nvPr/>
        </p:nvSpPr>
        <p:spPr>
          <a:xfrm>
            <a:off x="126369" y="3246543"/>
            <a:ext cx="1196848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The image </a:t>
            </a:r>
            <a:r>
              <a:rPr lang="en-US">
                <a:latin typeface="Consolas"/>
              </a:rPr>
              <a:t>devops-notes-api:1.0</a:t>
            </a:r>
            <a:r>
              <a:rPr lang="en-US">
                <a:ea typeface="+mn-lt"/>
                <a:cs typeface="+mn-lt"/>
              </a:rPr>
              <a:t> must be available to the Kubernetes cluster. If Docker Desktop's cluster cannot see the image you built, we'll correct the image-loading configuration rather than rebuilding the application from scratch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492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BB5346-7D2B-1AB5-DD25-59CD9D36F66A}"/>
              </a:ext>
            </a:extLst>
          </p:cNvPr>
          <p:cNvSpPr txBox="1"/>
          <p:nvPr/>
        </p:nvSpPr>
        <p:spPr>
          <a:xfrm>
            <a:off x="246572" y="164381"/>
            <a:ext cx="1192784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Phase 8: Configure NGINX as a reverse proxy</a:t>
            </a:r>
          </a:p>
          <a:p>
            <a:endParaRPr lang="en-US"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795C208-14BE-300A-D1A9-904630347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531393"/>
              </p:ext>
            </p:extLst>
          </p:nvPr>
        </p:nvGraphicFramePr>
        <p:xfrm>
          <a:off x="0" y="1092200"/>
          <a:ext cx="12192000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49300689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12045691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Incoming 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Destination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684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/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NGINX welcome response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72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/api/health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Flask API 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/health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420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/api/notes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Flask API 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/notes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619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/web/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Web backend 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770558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4BB39D2-CC74-2646-9AA0-73FB38190488}"/>
              </a:ext>
            </a:extLst>
          </p:cNvPr>
          <p:cNvSpPr txBox="1"/>
          <p:nvPr/>
        </p:nvSpPr>
        <p:spPr>
          <a:xfrm>
            <a:off x="243840" y="624840"/>
            <a:ext cx="1170432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NGINX will accept HTTP requests and route them according to the URL path:</a:t>
            </a:r>
          </a:p>
          <a:p>
            <a:endParaRPr lang="en-US"/>
          </a:p>
          <a:p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569772-D724-5077-1F4C-4B25C4407873}"/>
              </a:ext>
            </a:extLst>
          </p:cNvPr>
          <p:cNvSpPr txBox="1"/>
          <p:nvPr/>
        </p:nvSpPr>
        <p:spPr>
          <a:xfrm>
            <a:off x="245661" y="3250537"/>
            <a:ext cx="115620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8.1 Create </a:t>
            </a:r>
            <a:r>
              <a:rPr lang="en-US">
                <a:latin typeface="Consolas"/>
              </a:rPr>
              <a:t>nginx/</a:t>
            </a:r>
            <a:r>
              <a:rPr lang="en-US" err="1">
                <a:latin typeface="Consolas"/>
              </a:rPr>
              <a:t>nginx.conf</a:t>
            </a:r>
            <a:endParaRPr lang="en-US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4EFC27-2B3E-77C5-94A2-CB78184005DC}"/>
              </a:ext>
            </a:extLst>
          </p:cNvPr>
          <p:cNvSpPr txBox="1"/>
          <p:nvPr/>
        </p:nvSpPr>
        <p:spPr>
          <a:xfrm>
            <a:off x="17692" y="3611603"/>
            <a:ext cx="6075680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cat &gt; nginx/</a:t>
            </a:r>
            <a:r>
              <a:rPr lang="en-US" sz="1000" err="1"/>
              <a:t>nginx.conf</a:t>
            </a:r>
            <a:r>
              <a:rPr lang="en-US" sz="1000"/>
              <a:t> &lt;&lt;'EOF'</a:t>
            </a:r>
          </a:p>
          <a:p>
            <a:r>
              <a:rPr lang="en-US" sz="1000"/>
              <a:t>server {</a:t>
            </a:r>
          </a:p>
          <a:p>
            <a:r>
              <a:rPr lang="en-US" sz="1000"/>
              <a:t>    listen 80;</a:t>
            </a:r>
          </a:p>
          <a:p>
            <a:r>
              <a:rPr lang="en-US" sz="1000"/>
              <a:t>    </a:t>
            </a:r>
            <a:r>
              <a:rPr lang="en-US" sz="1000" err="1"/>
              <a:t>server_name</a:t>
            </a:r>
            <a:r>
              <a:rPr lang="en-US" sz="1000"/>
              <a:t> _;</a:t>
            </a:r>
          </a:p>
          <a:p>
            <a:r>
              <a:rPr lang="en-US" sz="1000"/>
              <a:t>    location = / {</a:t>
            </a:r>
          </a:p>
          <a:p>
            <a:r>
              <a:rPr lang="en-US" sz="1000"/>
              <a:t>        </a:t>
            </a:r>
            <a:r>
              <a:rPr lang="en-US" sz="1000" err="1"/>
              <a:t>default_type</a:t>
            </a:r>
            <a:r>
              <a:rPr lang="en-US" sz="1000"/>
              <a:t> text/plain;</a:t>
            </a:r>
          </a:p>
          <a:p>
            <a:r>
              <a:rPr lang="en-US" sz="1000"/>
              <a:t>        return 200 "Kubernetes DevOps Assignment - NGINX is working\n";</a:t>
            </a:r>
          </a:p>
          <a:p>
            <a:r>
              <a:rPr lang="en-US" sz="1000"/>
              <a:t>    }</a:t>
            </a:r>
          </a:p>
          <a:p>
            <a:r>
              <a:rPr lang="en-US" sz="1000"/>
              <a:t>    location /</a:t>
            </a:r>
            <a:r>
              <a:rPr lang="en-US" sz="1000" err="1"/>
              <a:t>api</a:t>
            </a:r>
            <a:r>
              <a:rPr lang="en-US" sz="1000"/>
              <a:t>/ {</a:t>
            </a:r>
          </a:p>
          <a:p>
            <a:r>
              <a:rPr lang="en-US" sz="1000"/>
              <a:t>        </a:t>
            </a:r>
            <a:r>
              <a:rPr lang="en-US" sz="1000" err="1"/>
              <a:t>proxy_pass</a:t>
            </a:r>
            <a:r>
              <a:rPr lang="en-US" sz="1000"/>
              <a:t> http://api-service:5000/;</a:t>
            </a:r>
          </a:p>
          <a:p>
            <a:r>
              <a:rPr lang="en-US" sz="1000"/>
              <a:t>        </a:t>
            </a:r>
            <a:r>
              <a:rPr lang="en-US" sz="1000" err="1"/>
              <a:t>proxy_set_header</a:t>
            </a:r>
            <a:r>
              <a:rPr lang="en-US" sz="1000"/>
              <a:t> Host $host;</a:t>
            </a:r>
          </a:p>
          <a:p>
            <a:r>
              <a:rPr lang="en-US" sz="1000"/>
              <a:t>        </a:t>
            </a:r>
            <a:r>
              <a:rPr lang="en-US" sz="1000" err="1"/>
              <a:t>proxy_set_header</a:t>
            </a:r>
            <a:r>
              <a:rPr lang="en-US" sz="1000"/>
              <a:t> X-Real-IP $</a:t>
            </a:r>
            <a:r>
              <a:rPr lang="en-US" sz="1000" err="1"/>
              <a:t>remote_addr</a:t>
            </a:r>
            <a:r>
              <a:rPr lang="en-US" sz="1000"/>
              <a:t>;</a:t>
            </a:r>
          </a:p>
          <a:p>
            <a:r>
              <a:rPr lang="en-US" sz="1000"/>
              <a:t>        </a:t>
            </a:r>
            <a:r>
              <a:rPr lang="en-US" sz="1000" err="1"/>
              <a:t>proxy_set_header</a:t>
            </a:r>
            <a:r>
              <a:rPr lang="en-US" sz="1000"/>
              <a:t> X-Forwarded-For $</a:t>
            </a:r>
            <a:r>
              <a:rPr lang="en-US" sz="1000" err="1"/>
              <a:t>proxy_add_x_forwarded_for</a:t>
            </a:r>
            <a:r>
              <a:rPr lang="en-US" sz="1000"/>
              <a:t>;</a:t>
            </a:r>
          </a:p>
          <a:p>
            <a:r>
              <a:rPr lang="en-US" sz="1000"/>
              <a:t>    }</a:t>
            </a:r>
          </a:p>
          <a:p>
            <a:r>
              <a:rPr lang="en-US" sz="1000"/>
              <a:t>    location /web/ {</a:t>
            </a:r>
          </a:p>
          <a:p>
            <a:r>
              <a:rPr lang="en-US" sz="1000"/>
              <a:t>        </a:t>
            </a:r>
            <a:r>
              <a:rPr lang="en-US" sz="1000" err="1"/>
              <a:t>proxy_pass</a:t>
            </a:r>
            <a:r>
              <a:rPr lang="en-US" sz="1000"/>
              <a:t> http://web-service:5678/;</a:t>
            </a:r>
          </a:p>
          <a:p>
            <a:r>
              <a:rPr lang="en-US" sz="1000"/>
              <a:t>        </a:t>
            </a:r>
            <a:r>
              <a:rPr lang="en-US" sz="1000" err="1"/>
              <a:t>proxy_set_header</a:t>
            </a:r>
            <a:r>
              <a:rPr lang="en-US" sz="1000"/>
              <a:t> Host $host;</a:t>
            </a:r>
          </a:p>
          <a:p>
            <a:r>
              <a:rPr lang="en-US" sz="1000"/>
              <a:t>        </a:t>
            </a:r>
            <a:r>
              <a:rPr lang="en-US" sz="1000" err="1"/>
              <a:t>proxy_set_header</a:t>
            </a:r>
            <a:r>
              <a:rPr lang="en-US" sz="1000"/>
              <a:t> X-Real-IP $</a:t>
            </a:r>
            <a:r>
              <a:rPr lang="en-US" sz="1000" err="1"/>
              <a:t>remote_addr</a:t>
            </a:r>
            <a:r>
              <a:rPr lang="en-US" sz="1000"/>
              <a:t>;</a:t>
            </a:r>
          </a:p>
          <a:p>
            <a:r>
              <a:rPr lang="en-US" sz="1000"/>
              <a:t>    }</a:t>
            </a:r>
          </a:p>
          <a:p>
            <a:r>
              <a:rPr lang="en-US" sz="1000"/>
              <a:t>}</a:t>
            </a:r>
          </a:p>
          <a:p>
            <a:pPr algn="l"/>
            <a:r>
              <a:rPr lang="en-US" sz="1000"/>
              <a:t>EOF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D94684-0158-D404-02BB-A9922F436777}"/>
              </a:ext>
            </a:extLst>
          </p:cNvPr>
          <p:cNvSpPr txBox="1"/>
          <p:nvPr/>
        </p:nvSpPr>
        <p:spPr>
          <a:xfrm>
            <a:off x="6493087" y="3637634"/>
            <a:ext cx="570992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slash in each </a:t>
            </a:r>
            <a:r>
              <a:rPr lang="en-US" err="1">
                <a:latin typeface="Consolas"/>
              </a:rPr>
              <a:t>proxy_pass</a:t>
            </a:r>
            <a:r>
              <a:rPr lang="en-US">
                <a:ea typeface="+mn-lt"/>
                <a:cs typeface="+mn-lt"/>
              </a:rPr>
              <a:t> URL. It makes NGINX remove the matching path prefix before sending the request to the backend</a:t>
            </a:r>
          </a:p>
        </p:txBody>
      </p:sp>
    </p:spTree>
    <p:extLst>
      <p:ext uri="{BB962C8B-B14F-4D97-AF65-F5344CB8AC3E}">
        <p14:creationId xmlns:p14="http://schemas.microsoft.com/office/powerpoint/2010/main" val="8643463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F3DB20-A423-111A-CCDF-AD28BF0CED4E}"/>
              </a:ext>
            </a:extLst>
          </p:cNvPr>
          <p:cNvSpPr txBox="1"/>
          <p:nvPr/>
        </p:nvSpPr>
        <p:spPr>
          <a:xfrm>
            <a:off x="301366" y="136984"/>
            <a:ext cx="5455920" cy="69557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8.2: Create </a:t>
            </a:r>
            <a:r>
              <a:rPr lang="en-US">
                <a:latin typeface="Consolas"/>
              </a:rPr>
              <a:t>k8s/</a:t>
            </a:r>
            <a:r>
              <a:rPr lang="en-US" err="1">
                <a:latin typeface="Consolas"/>
              </a:rPr>
              <a:t>nginx.yaml</a:t>
            </a:r>
            <a:endParaRPr lang="en-US">
              <a:latin typeface="Consolas"/>
            </a:endParaRPr>
          </a:p>
          <a:p>
            <a:endParaRPr lang="en-US">
              <a:latin typeface="Consolas"/>
            </a:endParaRPr>
          </a:p>
          <a:p>
            <a:r>
              <a:rPr lang="en-US" sz="1000">
                <a:latin typeface="Consolas"/>
              </a:rPr>
              <a:t>cat &gt; k8s/</a:t>
            </a:r>
            <a:r>
              <a:rPr lang="en-US" sz="1000" err="1">
                <a:latin typeface="Consolas"/>
              </a:rPr>
              <a:t>nginx.yaml</a:t>
            </a:r>
            <a:r>
              <a:rPr lang="en-US" sz="1000">
                <a:latin typeface="Consolas"/>
              </a:rPr>
              <a:t> &lt;&lt;'EOF'</a:t>
            </a:r>
            <a:endParaRPr lang="en-US" sz="1000"/>
          </a:p>
          <a:p>
            <a:r>
              <a:rPr lang="en-US" sz="1000" err="1">
                <a:latin typeface="Consolas"/>
              </a:rPr>
              <a:t>apiVersion</a:t>
            </a:r>
            <a:r>
              <a:rPr lang="en-US" sz="1000">
                <a:latin typeface="Consolas"/>
              </a:rPr>
              <a:t>: v1</a:t>
            </a:r>
            <a:endParaRPr lang="en-US" sz="1000"/>
          </a:p>
          <a:p>
            <a:r>
              <a:rPr lang="en-US" sz="1000">
                <a:latin typeface="Consolas"/>
              </a:rPr>
              <a:t>kind: </a:t>
            </a:r>
            <a:r>
              <a:rPr lang="en-US" sz="1000" err="1">
                <a:latin typeface="Consolas"/>
              </a:rPr>
              <a:t>ConfigMap</a:t>
            </a:r>
            <a:endParaRPr lang="en-US" sz="1000" err="1"/>
          </a:p>
          <a:p>
            <a:r>
              <a:rPr lang="en-US" sz="1000">
                <a:latin typeface="Consolas"/>
              </a:rPr>
              <a:t>metadata:</a:t>
            </a:r>
            <a:endParaRPr lang="en-US" sz="1000"/>
          </a:p>
          <a:p>
            <a:r>
              <a:rPr lang="en-US" sz="1000">
                <a:latin typeface="Consolas"/>
              </a:rPr>
              <a:t>  name: nginx-config</a:t>
            </a:r>
            <a:endParaRPr lang="en-US" sz="1000"/>
          </a:p>
          <a:p>
            <a:r>
              <a:rPr lang="en-US" sz="1000">
                <a:latin typeface="Consolas"/>
              </a:rPr>
              <a:t>  namespace: </a:t>
            </a:r>
            <a:r>
              <a:rPr lang="en-US" sz="1000" err="1">
                <a:latin typeface="Consolas"/>
              </a:rPr>
              <a:t>devops</a:t>
            </a:r>
            <a:r>
              <a:rPr lang="en-US" sz="1000">
                <a:latin typeface="Consolas"/>
              </a:rPr>
              <a:t>-assignment</a:t>
            </a:r>
            <a:endParaRPr lang="en-US" sz="1000"/>
          </a:p>
          <a:p>
            <a:r>
              <a:rPr lang="en-US" sz="1000">
                <a:latin typeface="Consolas"/>
              </a:rPr>
              <a:t>data:</a:t>
            </a:r>
            <a:endParaRPr lang="en-US" sz="1000"/>
          </a:p>
          <a:p>
            <a:r>
              <a:rPr lang="en-US" sz="1000">
                <a:latin typeface="Consolas"/>
              </a:rPr>
              <a:t>  </a:t>
            </a:r>
            <a:r>
              <a:rPr lang="en-US" sz="1000" err="1">
                <a:latin typeface="Consolas"/>
              </a:rPr>
              <a:t>default.conf</a:t>
            </a:r>
            <a:r>
              <a:rPr lang="en-US" sz="1000">
                <a:latin typeface="Consolas"/>
              </a:rPr>
              <a:t>: |</a:t>
            </a:r>
            <a:endParaRPr lang="en-US" sz="1000"/>
          </a:p>
          <a:p>
            <a:r>
              <a:rPr lang="en-US" sz="1000">
                <a:latin typeface="Consolas"/>
              </a:rPr>
              <a:t>    server {</a:t>
            </a:r>
            <a:endParaRPr lang="en-US" sz="1000"/>
          </a:p>
          <a:p>
            <a:r>
              <a:rPr lang="en-US" sz="1000">
                <a:latin typeface="Consolas"/>
              </a:rPr>
              <a:t>        listen 80;</a:t>
            </a:r>
            <a:endParaRPr lang="en-US" sz="1000"/>
          </a:p>
          <a:p>
            <a:r>
              <a:rPr lang="en-US" sz="1000">
                <a:latin typeface="Consolas"/>
              </a:rPr>
              <a:t>        </a:t>
            </a:r>
            <a:r>
              <a:rPr lang="en-US" sz="1000" err="1">
                <a:latin typeface="Consolas"/>
              </a:rPr>
              <a:t>server_name</a:t>
            </a:r>
            <a:r>
              <a:rPr lang="en-US" sz="1000">
                <a:latin typeface="Consolas"/>
              </a:rPr>
              <a:t> _;</a:t>
            </a:r>
            <a:endParaRPr lang="en-US" sz="1000"/>
          </a:p>
          <a:p>
            <a:endParaRPr lang="en-US" sz="1000"/>
          </a:p>
          <a:p>
            <a:r>
              <a:rPr lang="en-US" sz="1000">
                <a:latin typeface="Consolas"/>
              </a:rPr>
              <a:t>        location = / {</a:t>
            </a:r>
            <a:endParaRPr lang="en-US" sz="1000"/>
          </a:p>
          <a:p>
            <a:r>
              <a:rPr lang="en-US" sz="1000">
                <a:latin typeface="Consolas"/>
              </a:rPr>
              <a:t>            </a:t>
            </a:r>
            <a:r>
              <a:rPr lang="en-US" sz="1000" err="1">
                <a:latin typeface="Consolas"/>
              </a:rPr>
              <a:t>default_type</a:t>
            </a:r>
            <a:r>
              <a:rPr lang="en-US" sz="1000">
                <a:latin typeface="Consolas"/>
              </a:rPr>
              <a:t> text/plain;</a:t>
            </a:r>
            <a:endParaRPr lang="en-US" sz="1000"/>
          </a:p>
          <a:p>
            <a:r>
              <a:rPr lang="en-US" sz="1000">
                <a:latin typeface="Consolas"/>
              </a:rPr>
              <a:t>            return 200 "Kubernetes DevOps Assignment - NGINX is working\n";</a:t>
            </a:r>
            <a:endParaRPr lang="en-US" sz="1000"/>
          </a:p>
          <a:p>
            <a:r>
              <a:rPr lang="en-US" sz="1000">
                <a:latin typeface="Consolas"/>
              </a:rPr>
              <a:t>        }</a:t>
            </a:r>
            <a:endParaRPr lang="en-US" sz="1000"/>
          </a:p>
          <a:p>
            <a:endParaRPr lang="en-US" sz="1000"/>
          </a:p>
          <a:p>
            <a:r>
              <a:rPr lang="en-US" sz="1000">
                <a:latin typeface="Consolas"/>
              </a:rPr>
              <a:t>        location /</a:t>
            </a:r>
            <a:r>
              <a:rPr lang="en-US" sz="1000" err="1">
                <a:latin typeface="Consolas"/>
              </a:rPr>
              <a:t>api</a:t>
            </a:r>
            <a:r>
              <a:rPr lang="en-US" sz="1000">
                <a:latin typeface="Consolas"/>
              </a:rPr>
              <a:t>/ {</a:t>
            </a:r>
            <a:endParaRPr lang="en-US" sz="1000"/>
          </a:p>
          <a:p>
            <a:r>
              <a:rPr lang="en-US" sz="1000">
                <a:latin typeface="Consolas"/>
              </a:rPr>
              <a:t>            </a:t>
            </a:r>
            <a:r>
              <a:rPr lang="en-US" sz="1000" err="1">
                <a:latin typeface="Consolas"/>
              </a:rPr>
              <a:t>proxy_pass</a:t>
            </a:r>
            <a:r>
              <a:rPr lang="en-US" sz="1000">
                <a:latin typeface="Consolas"/>
              </a:rPr>
              <a:t> http://api-service:5000/;</a:t>
            </a:r>
            <a:endParaRPr lang="en-US" sz="1000"/>
          </a:p>
          <a:p>
            <a:r>
              <a:rPr lang="en-US" sz="1000">
                <a:latin typeface="Consolas"/>
              </a:rPr>
              <a:t>            </a:t>
            </a:r>
            <a:r>
              <a:rPr lang="en-US" sz="1000" err="1">
                <a:latin typeface="Consolas"/>
              </a:rPr>
              <a:t>proxy_set_header</a:t>
            </a:r>
            <a:r>
              <a:rPr lang="en-US" sz="1000">
                <a:latin typeface="Consolas"/>
              </a:rPr>
              <a:t> Host $host;</a:t>
            </a:r>
            <a:endParaRPr lang="en-US" sz="1000"/>
          </a:p>
          <a:p>
            <a:r>
              <a:rPr lang="en-US" sz="1000">
                <a:latin typeface="Consolas"/>
              </a:rPr>
              <a:t>            </a:t>
            </a:r>
            <a:r>
              <a:rPr lang="en-US" sz="1000" err="1">
                <a:latin typeface="Consolas"/>
              </a:rPr>
              <a:t>proxy_set_header</a:t>
            </a:r>
            <a:r>
              <a:rPr lang="en-US" sz="1000">
                <a:latin typeface="Consolas"/>
              </a:rPr>
              <a:t> X-Real-IP $</a:t>
            </a:r>
            <a:r>
              <a:rPr lang="en-US" sz="1000" err="1">
                <a:latin typeface="Consolas"/>
              </a:rPr>
              <a:t>remote_addr</a:t>
            </a:r>
            <a:r>
              <a:rPr lang="en-US" sz="1000">
                <a:latin typeface="Consolas"/>
              </a:rPr>
              <a:t>;</a:t>
            </a:r>
            <a:endParaRPr lang="en-US" sz="1000"/>
          </a:p>
          <a:p>
            <a:r>
              <a:rPr lang="en-US" sz="1000">
                <a:latin typeface="Consolas"/>
              </a:rPr>
              <a:t>            </a:t>
            </a:r>
            <a:r>
              <a:rPr lang="en-US" sz="1000" err="1">
                <a:latin typeface="Consolas"/>
              </a:rPr>
              <a:t>proxy_set_header</a:t>
            </a:r>
            <a:r>
              <a:rPr lang="en-US" sz="1000">
                <a:latin typeface="Consolas"/>
              </a:rPr>
              <a:t> X-Forwarded-For $</a:t>
            </a:r>
            <a:r>
              <a:rPr lang="en-US" sz="1000" err="1">
                <a:latin typeface="Consolas"/>
              </a:rPr>
              <a:t>proxy_add_x_forwarded_for</a:t>
            </a:r>
            <a:r>
              <a:rPr lang="en-US" sz="1000">
                <a:latin typeface="Consolas"/>
              </a:rPr>
              <a:t>;</a:t>
            </a:r>
            <a:endParaRPr lang="en-US" sz="1000"/>
          </a:p>
          <a:p>
            <a:r>
              <a:rPr lang="en-US" sz="1000">
                <a:latin typeface="Consolas"/>
              </a:rPr>
              <a:t>        }</a:t>
            </a:r>
            <a:endParaRPr lang="en-US" sz="1000"/>
          </a:p>
          <a:p>
            <a:endParaRPr lang="en-US" sz="1000"/>
          </a:p>
          <a:p>
            <a:r>
              <a:rPr lang="en-US" sz="1000">
                <a:latin typeface="Consolas"/>
              </a:rPr>
              <a:t>        location /web/ {</a:t>
            </a:r>
            <a:endParaRPr lang="en-US" sz="1000"/>
          </a:p>
          <a:p>
            <a:r>
              <a:rPr lang="en-US" sz="1000">
                <a:latin typeface="Consolas"/>
              </a:rPr>
              <a:t>            </a:t>
            </a:r>
            <a:r>
              <a:rPr lang="en-US" sz="1000" err="1">
                <a:latin typeface="Consolas"/>
              </a:rPr>
              <a:t>proxy_pass</a:t>
            </a:r>
            <a:r>
              <a:rPr lang="en-US" sz="1000">
                <a:latin typeface="Consolas"/>
              </a:rPr>
              <a:t> http://web-service:5678/;</a:t>
            </a:r>
            <a:endParaRPr lang="en-US" sz="1000"/>
          </a:p>
          <a:p>
            <a:r>
              <a:rPr lang="en-US" sz="1000">
                <a:latin typeface="Consolas"/>
              </a:rPr>
              <a:t>            </a:t>
            </a:r>
            <a:r>
              <a:rPr lang="en-US" sz="1000" err="1">
                <a:latin typeface="Consolas"/>
              </a:rPr>
              <a:t>proxy_set_header</a:t>
            </a:r>
            <a:r>
              <a:rPr lang="en-US" sz="1000">
                <a:latin typeface="Consolas"/>
              </a:rPr>
              <a:t> Host $host;</a:t>
            </a:r>
            <a:endParaRPr lang="en-US" sz="1000"/>
          </a:p>
          <a:p>
            <a:r>
              <a:rPr lang="en-US" sz="1000">
                <a:latin typeface="Consolas"/>
              </a:rPr>
              <a:t>            </a:t>
            </a:r>
            <a:r>
              <a:rPr lang="en-US" sz="1000" err="1">
                <a:latin typeface="Consolas"/>
              </a:rPr>
              <a:t>proxy_set_header</a:t>
            </a:r>
            <a:r>
              <a:rPr lang="en-US" sz="1000">
                <a:latin typeface="Consolas"/>
              </a:rPr>
              <a:t> X-Real-IP $</a:t>
            </a:r>
            <a:r>
              <a:rPr lang="en-US" sz="1000" err="1">
                <a:latin typeface="Consolas"/>
              </a:rPr>
              <a:t>remote_addr</a:t>
            </a:r>
            <a:r>
              <a:rPr lang="en-US" sz="1000">
                <a:latin typeface="Consolas"/>
              </a:rPr>
              <a:t>;</a:t>
            </a:r>
            <a:endParaRPr lang="en-US" sz="1000"/>
          </a:p>
          <a:p>
            <a:r>
              <a:rPr lang="en-US" sz="1000">
                <a:latin typeface="Consolas"/>
              </a:rPr>
              <a:t>        }</a:t>
            </a:r>
            <a:endParaRPr lang="en-US" sz="1000"/>
          </a:p>
          <a:p>
            <a:r>
              <a:rPr lang="en-US" sz="1000">
                <a:latin typeface="Consolas"/>
              </a:rPr>
              <a:t>    }</a:t>
            </a:r>
            <a:endParaRPr lang="en-US" sz="1000"/>
          </a:p>
          <a:p>
            <a:r>
              <a:rPr lang="en-US" sz="1000">
                <a:latin typeface="Consolas"/>
              </a:rPr>
              <a:t>---</a:t>
            </a:r>
            <a:endParaRPr lang="en-US" sz="1000"/>
          </a:p>
          <a:p>
            <a:r>
              <a:rPr lang="en-US" sz="1000" err="1">
                <a:latin typeface="Consolas"/>
              </a:rPr>
              <a:t>apiVersion</a:t>
            </a:r>
            <a:r>
              <a:rPr lang="en-US" sz="1000">
                <a:latin typeface="Consolas"/>
              </a:rPr>
              <a:t>: apps/v1</a:t>
            </a:r>
            <a:endParaRPr lang="en-US" sz="1000"/>
          </a:p>
          <a:p>
            <a:r>
              <a:rPr lang="en-US" sz="1000">
                <a:latin typeface="Consolas"/>
              </a:rPr>
              <a:t>kind: Deployment</a:t>
            </a:r>
            <a:endParaRPr lang="en-US" sz="1000"/>
          </a:p>
          <a:p>
            <a:r>
              <a:rPr lang="en-US" sz="1000">
                <a:latin typeface="Consolas"/>
              </a:rPr>
              <a:t>metadata:</a:t>
            </a:r>
            <a:endParaRPr lang="en-US" sz="1000"/>
          </a:p>
          <a:p>
            <a:r>
              <a:rPr lang="en-US" sz="1000">
                <a:latin typeface="Consolas"/>
              </a:rPr>
              <a:t>  name: nginx-proxy</a:t>
            </a:r>
            <a:endParaRPr lang="en-US" sz="1000"/>
          </a:p>
          <a:p>
            <a:r>
              <a:rPr lang="en-US" sz="1000">
                <a:latin typeface="Consolas"/>
              </a:rPr>
              <a:t>  namespace: </a:t>
            </a:r>
            <a:r>
              <a:rPr lang="en-US" sz="1000" err="1">
                <a:latin typeface="Consolas"/>
              </a:rPr>
              <a:t>devops</a:t>
            </a:r>
            <a:r>
              <a:rPr lang="en-US" sz="1000">
                <a:latin typeface="Consolas"/>
              </a:rPr>
              <a:t>-assignment</a:t>
            </a:r>
            <a:endParaRPr lang="en-US" sz="1000"/>
          </a:p>
          <a:p>
            <a:r>
              <a:rPr lang="en-US" sz="1000">
                <a:latin typeface="Consolas"/>
              </a:rPr>
              <a:t>spec:</a:t>
            </a:r>
            <a:endParaRPr lang="en-US" sz="1000"/>
          </a:p>
          <a:p>
            <a:r>
              <a:rPr lang="en-US" sz="1000">
                <a:latin typeface="Consolas"/>
              </a:rPr>
              <a:t>  replicas: 1</a:t>
            </a:r>
            <a:endParaRPr lang="en-US" sz="1000"/>
          </a:p>
          <a:p>
            <a:r>
              <a:rPr lang="en-US" sz="1000">
                <a:latin typeface="Consolas"/>
              </a:rPr>
              <a:t>  selector:</a:t>
            </a:r>
            <a:endParaRPr lang="en-US" sz="1000"/>
          </a:p>
          <a:p>
            <a:r>
              <a:rPr lang="en-US" sz="1000">
                <a:latin typeface="Consolas"/>
              </a:rPr>
              <a:t>    </a:t>
            </a:r>
            <a:r>
              <a:rPr lang="en-US" sz="1000" err="1">
                <a:latin typeface="Consolas"/>
              </a:rPr>
              <a:t>matchLabels</a:t>
            </a:r>
            <a:r>
              <a:rPr lang="en-US" sz="1000">
                <a:latin typeface="Consolas"/>
              </a:rPr>
              <a:t>:</a:t>
            </a:r>
            <a:endParaRPr lang="en-US" sz="1000"/>
          </a:p>
          <a:p>
            <a:r>
              <a:rPr lang="en-US" sz="1000">
                <a:latin typeface="Consolas"/>
              </a:rPr>
              <a:t>      app: nginx-proxy</a:t>
            </a:r>
            <a:endParaRPr lang="en-US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42F54B-6452-2B79-8F4F-01AE7603D0C3}"/>
              </a:ext>
            </a:extLst>
          </p:cNvPr>
          <p:cNvSpPr txBox="1"/>
          <p:nvPr/>
        </p:nvSpPr>
        <p:spPr>
          <a:xfrm>
            <a:off x="5917750" y="780814"/>
            <a:ext cx="5994400" cy="52937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latin typeface="Consolas"/>
              </a:rPr>
              <a:t>  template:</a:t>
            </a:r>
          </a:p>
          <a:p>
            <a:r>
              <a:rPr lang="en-US" sz="1000">
                <a:latin typeface="Consolas"/>
              </a:rPr>
              <a:t>    metadata:</a:t>
            </a:r>
          </a:p>
          <a:p>
            <a:r>
              <a:rPr lang="en-US" sz="1000">
                <a:latin typeface="Consolas"/>
              </a:rPr>
              <a:t>      labels:</a:t>
            </a:r>
          </a:p>
          <a:p>
            <a:r>
              <a:rPr lang="en-US" sz="1000">
                <a:latin typeface="Consolas"/>
              </a:rPr>
              <a:t>        app: nginx-proxy</a:t>
            </a:r>
          </a:p>
          <a:p>
            <a:r>
              <a:rPr lang="en-US" sz="1000">
                <a:latin typeface="Consolas"/>
              </a:rPr>
              <a:t>    spec:</a:t>
            </a:r>
          </a:p>
          <a:p>
            <a:r>
              <a:rPr lang="en-US" sz="1000">
                <a:latin typeface="Consolas"/>
              </a:rPr>
              <a:t>      containers:</a:t>
            </a:r>
          </a:p>
          <a:p>
            <a:r>
              <a:rPr lang="en-US" sz="1000">
                <a:latin typeface="Consolas"/>
              </a:rPr>
              <a:t>        - name: nginx</a:t>
            </a:r>
          </a:p>
          <a:p>
            <a:r>
              <a:rPr lang="en-US" sz="1000">
                <a:latin typeface="Consolas"/>
              </a:rPr>
              <a:t>          image: nginx:1.28-alpine</a:t>
            </a:r>
          </a:p>
          <a:p>
            <a:r>
              <a:rPr lang="en-US" sz="1000">
                <a:latin typeface="Consolas"/>
              </a:rPr>
              <a:t>          ports:</a:t>
            </a:r>
          </a:p>
          <a:p>
            <a:r>
              <a:rPr lang="en-US" sz="1000">
                <a:latin typeface="Consolas"/>
              </a:rPr>
              <a:t>            - </a:t>
            </a:r>
            <a:r>
              <a:rPr lang="en-US" sz="1000" err="1">
                <a:latin typeface="Consolas"/>
              </a:rPr>
              <a:t>containerPort</a:t>
            </a:r>
            <a:r>
              <a:rPr lang="en-US" sz="1000">
                <a:latin typeface="Consolas"/>
              </a:rPr>
              <a:t>: 80</a:t>
            </a:r>
          </a:p>
          <a:p>
            <a:r>
              <a:rPr lang="en-US" sz="1000">
                <a:latin typeface="Consolas"/>
              </a:rPr>
              <a:t>          </a:t>
            </a:r>
            <a:r>
              <a:rPr lang="en-US" sz="1000" err="1">
                <a:latin typeface="Consolas"/>
              </a:rPr>
              <a:t>volumeMounts</a:t>
            </a:r>
            <a:r>
              <a:rPr lang="en-US" sz="1000">
                <a:latin typeface="Consolas"/>
              </a:rPr>
              <a:t>:</a:t>
            </a:r>
          </a:p>
          <a:p>
            <a:r>
              <a:rPr lang="en-US" sz="1000">
                <a:latin typeface="Consolas"/>
              </a:rPr>
              <a:t>            - name: nginx-config</a:t>
            </a:r>
          </a:p>
          <a:p>
            <a:r>
              <a:rPr lang="en-US" sz="1000">
                <a:latin typeface="Consolas"/>
              </a:rPr>
              <a:t>              </a:t>
            </a:r>
            <a:r>
              <a:rPr lang="en-US" sz="1000" err="1">
                <a:latin typeface="Consolas"/>
              </a:rPr>
              <a:t>mountPath</a:t>
            </a:r>
            <a:r>
              <a:rPr lang="en-US" sz="1000">
                <a:latin typeface="Consolas"/>
              </a:rPr>
              <a:t>: /</a:t>
            </a:r>
            <a:r>
              <a:rPr lang="en-US" sz="1000" err="1">
                <a:latin typeface="Consolas"/>
              </a:rPr>
              <a:t>etc</a:t>
            </a:r>
            <a:r>
              <a:rPr lang="en-US" sz="1000">
                <a:latin typeface="Consolas"/>
              </a:rPr>
              <a:t>/nginx/</a:t>
            </a:r>
            <a:r>
              <a:rPr lang="en-US" sz="1000" err="1">
                <a:latin typeface="Consolas"/>
              </a:rPr>
              <a:t>conf.d</a:t>
            </a:r>
            <a:r>
              <a:rPr lang="en-US" sz="1000">
                <a:latin typeface="Consolas"/>
              </a:rPr>
              <a:t>/</a:t>
            </a:r>
            <a:r>
              <a:rPr lang="en-US" sz="1000" err="1">
                <a:latin typeface="Consolas"/>
              </a:rPr>
              <a:t>default.conf</a:t>
            </a:r>
          </a:p>
          <a:p>
            <a:r>
              <a:rPr lang="en-US" sz="1000">
                <a:latin typeface="Consolas"/>
              </a:rPr>
              <a:t>              </a:t>
            </a:r>
            <a:r>
              <a:rPr lang="en-US" sz="1000" err="1">
                <a:latin typeface="Consolas"/>
              </a:rPr>
              <a:t>subPath</a:t>
            </a:r>
            <a:r>
              <a:rPr lang="en-US" sz="1000">
                <a:latin typeface="Consolas"/>
              </a:rPr>
              <a:t>: </a:t>
            </a:r>
            <a:r>
              <a:rPr lang="en-US" sz="1000" err="1">
                <a:latin typeface="Consolas"/>
              </a:rPr>
              <a:t>default.conf</a:t>
            </a:r>
          </a:p>
          <a:p>
            <a:r>
              <a:rPr lang="en-US" sz="1000">
                <a:latin typeface="Consolas"/>
              </a:rPr>
              <a:t>      volumes:</a:t>
            </a:r>
          </a:p>
          <a:p>
            <a:r>
              <a:rPr lang="en-US" sz="1000">
                <a:latin typeface="Consolas"/>
              </a:rPr>
              <a:t>        - name: nginx-config</a:t>
            </a:r>
          </a:p>
          <a:p>
            <a:r>
              <a:rPr lang="en-US" sz="1000">
                <a:latin typeface="Consolas"/>
              </a:rPr>
              <a:t>          </a:t>
            </a:r>
            <a:r>
              <a:rPr lang="en-US" sz="1000" err="1">
                <a:latin typeface="Consolas"/>
              </a:rPr>
              <a:t>configMap</a:t>
            </a:r>
            <a:r>
              <a:rPr lang="en-US" sz="1000">
                <a:latin typeface="Consolas"/>
              </a:rPr>
              <a:t>:</a:t>
            </a:r>
          </a:p>
          <a:p>
            <a:r>
              <a:rPr lang="en-US" sz="1000">
                <a:latin typeface="Consolas"/>
              </a:rPr>
              <a:t>            name: nginx-config</a:t>
            </a:r>
          </a:p>
          <a:p>
            <a:r>
              <a:rPr lang="en-US" sz="1000">
                <a:latin typeface="Consolas"/>
              </a:rPr>
              <a:t>---</a:t>
            </a:r>
          </a:p>
          <a:p>
            <a:r>
              <a:rPr lang="en-US" sz="1000" err="1">
                <a:latin typeface="Consolas"/>
              </a:rPr>
              <a:t>apiVersion</a:t>
            </a:r>
            <a:r>
              <a:rPr lang="en-US" sz="1000">
                <a:latin typeface="Consolas"/>
              </a:rPr>
              <a:t>: v1</a:t>
            </a:r>
          </a:p>
          <a:p>
            <a:r>
              <a:rPr lang="en-US" sz="1000">
                <a:latin typeface="Consolas"/>
              </a:rPr>
              <a:t>kind: Service</a:t>
            </a:r>
          </a:p>
          <a:p>
            <a:r>
              <a:rPr lang="en-US" sz="1000">
                <a:latin typeface="Consolas"/>
              </a:rPr>
              <a:t>metadata:</a:t>
            </a:r>
          </a:p>
          <a:p>
            <a:r>
              <a:rPr lang="en-US" sz="1000">
                <a:latin typeface="Consolas"/>
              </a:rPr>
              <a:t>  name: nginx-proxy</a:t>
            </a:r>
          </a:p>
          <a:p>
            <a:r>
              <a:rPr lang="en-US" sz="1000">
                <a:latin typeface="Consolas"/>
              </a:rPr>
              <a:t>  namespace: </a:t>
            </a:r>
            <a:r>
              <a:rPr lang="en-US" sz="1000" err="1">
                <a:latin typeface="Consolas"/>
              </a:rPr>
              <a:t>devops</a:t>
            </a:r>
            <a:r>
              <a:rPr lang="en-US" sz="1000">
                <a:latin typeface="Consolas"/>
              </a:rPr>
              <a:t>-assignment</a:t>
            </a:r>
          </a:p>
          <a:p>
            <a:r>
              <a:rPr lang="en-US" sz="1000">
                <a:latin typeface="Consolas"/>
              </a:rPr>
              <a:t>spec:</a:t>
            </a:r>
          </a:p>
          <a:p>
            <a:r>
              <a:rPr lang="en-US" sz="1000">
                <a:latin typeface="Consolas"/>
              </a:rPr>
              <a:t>  type: </a:t>
            </a:r>
            <a:r>
              <a:rPr lang="en-US" sz="1000" err="1">
                <a:latin typeface="Consolas"/>
              </a:rPr>
              <a:t>ClusterIP</a:t>
            </a:r>
          </a:p>
          <a:p>
            <a:r>
              <a:rPr lang="en-US" sz="1000">
                <a:latin typeface="Consolas"/>
              </a:rPr>
              <a:t>  selector:</a:t>
            </a:r>
          </a:p>
          <a:p>
            <a:r>
              <a:rPr lang="en-US" sz="1000">
                <a:latin typeface="Consolas"/>
              </a:rPr>
              <a:t>    app: nginx-proxy</a:t>
            </a:r>
          </a:p>
          <a:p>
            <a:r>
              <a:rPr lang="en-US" sz="1000">
                <a:latin typeface="Consolas"/>
              </a:rPr>
              <a:t>  ports:</a:t>
            </a:r>
          </a:p>
          <a:p>
            <a:r>
              <a:rPr lang="en-US" sz="1000">
                <a:latin typeface="Consolas"/>
              </a:rPr>
              <a:t>    - port: 80</a:t>
            </a:r>
          </a:p>
          <a:p>
            <a:r>
              <a:rPr lang="en-US" sz="1000">
                <a:latin typeface="Consolas"/>
              </a:rPr>
              <a:t>      </a:t>
            </a:r>
            <a:r>
              <a:rPr lang="en-US" sz="1000" err="1">
                <a:latin typeface="Consolas"/>
              </a:rPr>
              <a:t>targetPort</a:t>
            </a:r>
            <a:r>
              <a:rPr lang="en-US" sz="1000">
                <a:latin typeface="Consolas"/>
              </a:rPr>
              <a:t>: 80</a:t>
            </a:r>
          </a:p>
          <a:p>
            <a:r>
              <a:rPr lang="en-US" sz="1000">
                <a:latin typeface="Consolas"/>
              </a:rPr>
              <a:t>EOF</a:t>
            </a: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9630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E82F8D-9C70-3891-1AC9-C1C16A87C940}"/>
              </a:ext>
            </a:extLst>
          </p:cNvPr>
          <p:cNvSpPr txBox="1"/>
          <p:nvPr/>
        </p:nvSpPr>
        <p:spPr>
          <a:xfrm>
            <a:off x="246572" y="136984"/>
            <a:ext cx="1163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err="1"/>
              <a:t>kubectl</a:t>
            </a:r>
            <a:r>
              <a:rPr lang="en-US"/>
              <a:t> apply -f k8s/</a:t>
            </a:r>
            <a:r>
              <a:rPr lang="en-US" err="1"/>
              <a:t>nginx.yaml</a:t>
            </a:r>
          </a:p>
        </p:txBody>
      </p:sp>
      <p:pic>
        <p:nvPicPr>
          <p:cNvPr id="3" name="Picture 2" descr="A blue screen with white text&#10;&#10;AI-generated content may be incorrect.">
            <a:extLst>
              <a:ext uri="{FF2B5EF4-FFF2-40B4-BE49-F238E27FC236}">
                <a16:creationId xmlns:a16="http://schemas.microsoft.com/office/drawing/2014/main" id="{0E64134B-7E2A-E02C-5C2B-FC7795BCA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295"/>
            <a:ext cx="12192000" cy="13482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F96FD3-0AE2-2A4C-C43D-97A6F5A62C7F}"/>
              </a:ext>
            </a:extLst>
          </p:cNvPr>
          <p:cNvSpPr txBox="1"/>
          <p:nvPr/>
        </p:nvSpPr>
        <p:spPr>
          <a:xfrm>
            <a:off x="136984" y="2178060"/>
            <a:ext cx="11887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kubectl rollout status deployment/nginx-proxy -n devops-assignment --timeout=180s</a:t>
            </a:r>
          </a:p>
        </p:txBody>
      </p:sp>
      <p:pic>
        <p:nvPicPr>
          <p:cNvPr id="5" name="Picture 4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9E9ED648-E638-4701-0195-8A34D17BA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10933"/>
            <a:ext cx="12192000" cy="823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08083D-94C0-44C8-4C7C-73A7C86FA3A0}"/>
              </a:ext>
            </a:extLst>
          </p:cNvPr>
          <p:cNvSpPr txBox="1"/>
          <p:nvPr/>
        </p:nvSpPr>
        <p:spPr>
          <a:xfrm>
            <a:off x="147600" y="3616403"/>
            <a:ext cx="117551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kubectl</a:t>
            </a:r>
            <a:r>
              <a:rPr lang="en-US"/>
              <a:t> get pods -n </a:t>
            </a:r>
            <a:r>
              <a:rPr lang="en-US" err="1"/>
              <a:t>devops</a:t>
            </a:r>
            <a:r>
              <a:rPr lang="en-US"/>
              <a:t>-assignment</a:t>
            </a:r>
          </a:p>
        </p:txBody>
      </p:sp>
      <p:pic>
        <p:nvPicPr>
          <p:cNvPr id="7" name="Picture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FCE16D64-11F8-048E-669C-826BB4E2E1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320" y="4183237"/>
            <a:ext cx="12192000" cy="18036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346CC2-42FF-6EA9-60AD-608DFA986BE3}"/>
              </a:ext>
            </a:extLst>
          </p:cNvPr>
          <p:cNvSpPr txBox="1"/>
          <p:nvPr/>
        </p:nvSpPr>
        <p:spPr>
          <a:xfrm>
            <a:off x="14153" y="6232816"/>
            <a:ext cx="107696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You should have PostgreSQL, the API, the web backend and NGINX running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28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E3112F-2F46-1BC8-4690-775E75D3FED8}"/>
              </a:ext>
            </a:extLst>
          </p:cNvPr>
          <p:cNvSpPr txBox="1"/>
          <p:nvPr/>
        </p:nvSpPr>
        <p:spPr>
          <a:xfrm>
            <a:off x="191778" y="164381"/>
            <a:ext cx="11846560" cy="50167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Phase 9: Test the complete project</a:t>
            </a:r>
          </a:p>
          <a:p>
            <a:r>
              <a:rPr lang="en-US">
                <a:ea typeface="+mn-lt"/>
                <a:cs typeface="+mn-lt"/>
              </a:rPr>
              <a:t>Now we need evidence that the four tasks work, not just that the YAML files exist.</a:t>
            </a:r>
            <a:endParaRPr lang="en-US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9.1: Start port forwarding</a:t>
            </a:r>
          </a:p>
          <a:p>
            <a:endParaRPr lang="en-US"/>
          </a:p>
          <a:p>
            <a:pPr marL="285750" indent="-285750">
              <a:buFont typeface="Calibri"/>
              <a:buChar char="-"/>
            </a:pPr>
            <a:r>
              <a:rPr lang="en-US" err="1"/>
              <a:t>kubectl</a:t>
            </a:r>
            <a:r>
              <a:rPr lang="en-US"/>
              <a:t> port-forward svc/nginx-proxy 8080:80 -n </a:t>
            </a:r>
            <a:r>
              <a:rPr lang="en-US" err="1"/>
              <a:t>devops</a:t>
            </a:r>
            <a:r>
              <a:rPr lang="en-US"/>
              <a:t>-assignment</a:t>
            </a:r>
          </a:p>
          <a:p>
            <a:pPr marL="285750" indent="-285750">
              <a:buFont typeface="Calibri"/>
              <a:buChar char="-"/>
            </a:pPr>
            <a:endParaRPr lang="en-US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r>
              <a:rPr lang="en-US"/>
              <a:t>9.2: Test NGINX</a:t>
            </a:r>
          </a:p>
          <a:p>
            <a:endParaRPr lang="en-US"/>
          </a:p>
          <a:p>
            <a:pPr marL="285750" indent="-285750">
              <a:buFont typeface="Calibri,Sans-Serif"/>
              <a:buChar char="-"/>
            </a:pPr>
            <a:r>
              <a:rPr lang="en-US"/>
              <a:t>curl </a:t>
            </a:r>
            <a:r>
              <a:rPr lang="en-US">
                <a:hlinkClick r:id="rId2"/>
              </a:rPr>
              <a:t>http://localhost:8080/</a:t>
            </a:r>
            <a:endParaRPr lang="en-US"/>
          </a:p>
          <a:p>
            <a:endParaRPr lang="en-US" sz="1400"/>
          </a:p>
        </p:txBody>
      </p:sp>
      <p:pic>
        <p:nvPicPr>
          <p:cNvPr id="3" name="Picture 2" descr="A close-up of a text&#10;&#10;AI-generated content may be incorrect.">
            <a:extLst>
              <a:ext uri="{FF2B5EF4-FFF2-40B4-BE49-F238E27FC236}">
                <a16:creationId xmlns:a16="http://schemas.microsoft.com/office/drawing/2014/main" id="{8DB0F6E0-30B6-CEB2-74D1-2F46352C6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40" y="5315650"/>
            <a:ext cx="12192000" cy="154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3270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DBAFB4-8D75-3CE1-0B93-F6736E1F84EA}"/>
              </a:ext>
            </a:extLst>
          </p:cNvPr>
          <p:cNvSpPr txBox="1"/>
          <p:nvPr/>
        </p:nvSpPr>
        <p:spPr>
          <a:xfrm>
            <a:off x="0" y="-15240"/>
            <a:ext cx="12080240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180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9.3: Test the API and database connection</a:t>
            </a:r>
            <a:r>
              <a:rPr lang="en-US" sz="1800">
                <a:latin typeface="Aptos"/>
                <a:ea typeface="Arial"/>
                <a:cs typeface="Arial"/>
              </a:rPr>
              <a:t>​</a:t>
            </a:r>
          </a:p>
          <a:p>
            <a:pPr rtl="0"/>
            <a:r>
              <a:rPr lang="en-US" sz="1800">
                <a:latin typeface="Aptos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Calibri,Sans-Serif"/>
              <a:buChar char="-"/>
            </a:pPr>
            <a:r>
              <a:rPr lang="en-US" sz="180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curl </a:t>
            </a:r>
            <a:r>
              <a:rPr lang="en-US" sz="1800" u="none" strike="noStrike" baseline="0">
                <a:latin typeface="Aptos"/>
                <a:ea typeface="Arial"/>
                <a:cs typeface="Arial"/>
                <a:hlinkClick r:id="rId2"/>
              </a:rPr>
              <a:t>http://localhost:8080/api/health</a:t>
            </a:r>
            <a:r>
              <a:rPr lang="en-US" sz="1800">
                <a:latin typeface="Aptos"/>
                <a:ea typeface="Arial"/>
                <a:cs typeface="Arial"/>
                <a:hlinkClick r:id="rId2"/>
              </a:rPr>
              <a:t>​</a:t>
            </a:r>
          </a:p>
          <a:p>
            <a:pPr marL="285750" lvl="0" indent="-285750">
              <a:buFont typeface="Calibri,Sans-Serif"/>
              <a:buChar char="-"/>
            </a:pPr>
            <a:endParaRPr lang="en-US">
              <a:latin typeface="Aptos"/>
              <a:ea typeface="Arial"/>
              <a:cs typeface="Arial"/>
            </a:endParaRPr>
          </a:p>
          <a:p>
            <a:pPr marL="285750" indent="-285750">
              <a:buFont typeface="Calibri,Sans-Serif"/>
              <a:buChar char="-"/>
            </a:pPr>
            <a:endParaRPr lang="en-US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285750" indent="-285750">
              <a:buFont typeface="Calibri,Sans-Serif"/>
              <a:buChar char="-"/>
            </a:pPr>
            <a:endParaRPr lang="en-US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rtl="0"/>
            <a:r>
              <a:rPr lang="en-US" sz="180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9.4: Test the web backend</a:t>
            </a:r>
            <a:r>
              <a:rPr lang="en-US" sz="1800">
                <a:latin typeface="Aptos"/>
                <a:ea typeface="Arial"/>
                <a:cs typeface="Arial"/>
              </a:rPr>
              <a:t>​</a:t>
            </a:r>
          </a:p>
          <a:p>
            <a:pPr rtl="0"/>
            <a:r>
              <a:rPr lang="en-US" sz="1800">
                <a:latin typeface="Aptos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Calibri,Sans-Serif"/>
              <a:buChar char="-"/>
            </a:pPr>
            <a:r>
              <a:rPr lang="en-US" sz="180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curl </a:t>
            </a:r>
            <a:r>
              <a:rPr lang="en-US" sz="1800" u="none" strike="noStrike" baseline="0">
                <a:latin typeface="Aptos"/>
                <a:ea typeface="Arial"/>
                <a:cs typeface="Arial"/>
                <a:hlinkClick r:id="rId3"/>
              </a:rPr>
              <a:t>http://localhost:8080/web/</a:t>
            </a:r>
            <a:r>
              <a:rPr lang="en-US" sz="1800">
                <a:latin typeface="Aptos"/>
                <a:ea typeface="Arial"/>
                <a:cs typeface="Arial"/>
                <a:hlinkClick r:id="rId3"/>
              </a:rPr>
              <a:t>​</a:t>
            </a:r>
          </a:p>
          <a:p>
            <a:pPr marL="285750" lvl="0" indent="-285750">
              <a:buFont typeface="Calibri,Sans-Serif"/>
              <a:buChar char="-"/>
            </a:pPr>
            <a:endParaRPr lang="en-US">
              <a:latin typeface="Aptos"/>
              <a:ea typeface="Arial"/>
              <a:cs typeface="Arial"/>
            </a:endParaRPr>
          </a:p>
          <a:p>
            <a:pPr marL="285750" indent="-285750">
              <a:buFont typeface="Calibri,Sans-Serif"/>
              <a:buChar char="-"/>
            </a:pPr>
            <a:endParaRPr lang="en-US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endParaRPr lang="en-US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rtl="0"/>
            <a:r>
              <a:rPr lang="en-US" sz="180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9.5: Insert a database record</a:t>
            </a:r>
            <a:r>
              <a:rPr lang="en-US" sz="1800">
                <a:latin typeface="Aptos"/>
                <a:ea typeface="Arial"/>
                <a:cs typeface="Arial"/>
              </a:rPr>
              <a:t>​</a:t>
            </a:r>
          </a:p>
          <a:p>
            <a:pPr rtl="0"/>
            <a:r>
              <a:rPr lang="en-US" sz="1800">
                <a:latin typeface="Aptos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Calibri,Sans-Serif"/>
              <a:buChar char="-"/>
            </a:pPr>
            <a:r>
              <a:rPr lang="en-US" sz="140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curl -X POST http://localhost:8080/api/notes \</a:t>
            </a:r>
            <a:r>
              <a:rPr lang="en-US" sz="1400">
                <a:latin typeface="Aptos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Calibri,Sans-Serif"/>
              <a:buChar char="-"/>
            </a:pPr>
            <a:r>
              <a:rPr lang="en-US" sz="140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-H 'Content-Type: application/</a:t>
            </a:r>
            <a:r>
              <a:rPr lang="en-US" sz="1400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json</a:t>
            </a:r>
            <a:r>
              <a:rPr lang="en-US" sz="140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' \</a:t>
            </a:r>
            <a:r>
              <a:rPr lang="en-US" sz="1400">
                <a:latin typeface="Aptos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Calibri,Sans-Serif"/>
              <a:buChar char="-"/>
            </a:pPr>
            <a:r>
              <a:rPr lang="en-US" sz="140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-d '{"</a:t>
            </a:r>
            <a:r>
              <a:rPr lang="en-US" sz="1400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content":"Kubernetes</a:t>
            </a:r>
            <a:r>
              <a:rPr lang="en-US" sz="140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persistent storage test"}'</a:t>
            </a:r>
            <a:r>
              <a:rPr lang="en-US" sz="1400">
                <a:latin typeface="Aptos"/>
                <a:ea typeface="Arial"/>
                <a:cs typeface="Arial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550B0A-2D94-0EDD-61A9-B89F3E1F76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56141"/>
            <a:ext cx="12192000" cy="749638"/>
          </a:xfrm>
          <a:prstGeom prst="rect">
            <a:avLst/>
          </a:prstGeom>
        </p:spPr>
      </p:pic>
      <p:pic>
        <p:nvPicPr>
          <p:cNvPr id="4" name="Picture 3" descr="A close-up of a graph&#10;&#10;AI-generated content may be incorrect.">
            <a:extLst>
              <a:ext uri="{FF2B5EF4-FFF2-40B4-BE49-F238E27FC236}">
                <a16:creationId xmlns:a16="http://schemas.microsoft.com/office/drawing/2014/main" id="{DA819D73-9224-7F76-7E9B-863A77CBFC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88522"/>
            <a:ext cx="12192000" cy="915756"/>
          </a:xfrm>
          <a:prstGeom prst="rect">
            <a:avLst/>
          </a:prstGeom>
        </p:spPr>
      </p:pic>
      <p:pic>
        <p:nvPicPr>
          <p:cNvPr id="5" name="Picture 4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F634D8BB-D19D-09B0-569F-3C716B91D8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4880721"/>
            <a:ext cx="12192000" cy="1485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6278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793EF3D3-6E8B-B7AC-C698-FD1CF43AC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1236"/>
            <a:ext cx="12192000" cy="8972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55F69F-2D68-813F-E13F-D4E583124D42}"/>
              </a:ext>
            </a:extLst>
          </p:cNvPr>
          <p:cNvSpPr txBox="1"/>
          <p:nvPr/>
        </p:nvSpPr>
        <p:spPr>
          <a:xfrm>
            <a:off x="301366" y="205477"/>
            <a:ext cx="1167384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Read the record from </a:t>
            </a:r>
            <a:r>
              <a:rPr lang="en-US" err="1"/>
              <a:t>databse</a:t>
            </a:r>
            <a:r>
              <a:rPr lang="en-US"/>
              <a:t> </a:t>
            </a:r>
          </a:p>
          <a:p>
            <a:endParaRPr lang="en-US"/>
          </a:p>
          <a:p>
            <a:pPr marL="285750" indent="-285750">
              <a:buFont typeface="Calibri"/>
              <a:buChar char="-"/>
            </a:pPr>
            <a:r>
              <a:rPr lang="en-US"/>
              <a:t>curl http://localhost:8080/api/notes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1C6376-9226-E676-947A-10E0D051CCD4}"/>
              </a:ext>
            </a:extLst>
          </p:cNvPr>
          <p:cNvSpPr txBox="1"/>
          <p:nvPr/>
        </p:nvSpPr>
        <p:spPr>
          <a:xfrm>
            <a:off x="123286" y="2493126"/>
            <a:ext cx="1187704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Phase 10: So now, we have to Prove that PostgreSQL data persists</a:t>
            </a:r>
          </a:p>
          <a:p>
            <a:r>
              <a:rPr lang="en-US">
                <a:ea typeface="+mn-lt"/>
                <a:cs typeface="+mn-lt"/>
              </a:rPr>
              <a:t>This is one of the most important parts of the assignment. We will delete the PostgreSQL Pod, let Kubernetes recreate it, and verify that the record still exists</a:t>
            </a:r>
            <a:endParaRPr lang="en-US"/>
          </a:p>
          <a:p>
            <a:endParaRPr lang="en-US"/>
          </a:p>
          <a:p>
            <a:r>
              <a:rPr lang="en-US"/>
              <a:t>10.1: Record</a:t>
            </a:r>
            <a:r>
              <a:rPr lang="en-US">
                <a:ea typeface="+mn-lt"/>
                <a:cs typeface="+mn-lt"/>
              </a:rPr>
              <a:t> the current data</a:t>
            </a:r>
          </a:p>
          <a:p>
            <a:endParaRPr lang="en-US"/>
          </a:p>
          <a:p>
            <a:pPr marL="285750" indent="-285750">
              <a:buFont typeface="Calibri"/>
              <a:buChar char="-"/>
            </a:pPr>
            <a:r>
              <a:rPr lang="en-US"/>
              <a:t>curl http://localhost:8080/api/notes</a:t>
            </a:r>
          </a:p>
        </p:txBody>
      </p:sp>
      <p:pic>
        <p:nvPicPr>
          <p:cNvPr id="5" name="Picture 4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067FEE62-A534-DF15-47E5-B278492F7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480" y="5167582"/>
            <a:ext cx="12192000" cy="1054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2908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C59B5F-70DC-6364-2781-88B34D42D9D8}"/>
              </a:ext>
            </a:extLst>
          </p:cNvPr>
          <p:cNvSpPr txBox="1"/>
          <p:nvPr/>
        </p:nvSpPr>
        <p:spPr>
          <a:xfrm>
            <a:off x="150683" y="397256"/>
            <a:ext cx="1202944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10.2 Delete only the PostgreSQL Pod</a:t>
            </a:r>
          </a:p>
          <a:p>
            <a:r>
              <a:rPr lang="en-US">
                <a:ea typeface="+mn-lt"/>
                <a:cs typeface="+mn-lt"/>
              </a:rPr>
              <a:t>In a Terminal window other than the one running port forwarding, execute following </a:t>
            </a:r>
            <a:r>
              <a:rPr lang="en-US" err="1">
                <a:ea typeface="+mn-lt"/>
                <a:cs typeface="+mn-lt"/>
              </a:rPr>
              <a:t>comnds</a:t>
            </a:r>
            <a:endParaRPr lang="en-US" err="1"/>
          </a:p>
          <a:p>
            <a:pPr algn="l"/>
            <a:endParaRPr lang="en-US"/>
          </a:p>
          <a:p>
            <a:pPr marL="285750" indent="-285750">
              <a:buFont typeface="Calibri"/>
              <a:buChar char="-"/>
            </a:pPr>
            <a:r>
              <a:rPr lang="en-US" err="1"/>
              <a:t>kubectl</a:t>
            </a:r>
            <a:r>
              <a:rPr lang="en-US"/>
              <a:t> delete pod -n </a:t>
            </a:r>
            <a:r>
              <a:rPr lang="en-US" err="1"/>
              <a:t>devops</a:t>
            </a:r>
            <a:r>
              <a:rPr lang="en-US"/>
              <a:t>-assignment -l app=</a:t>
            </a:r>
            <a:r>
              <a:rPr lang="en-US" err="1"/>
              <a:t>postgres</a:t>
            </a:r>
          </a:p>
          <a:p>
            <a:pPr marL="285750" indent="-285750">
              <a:buFont typeface="Calibri"/>
              <a:buChar char="-"/>
            </a:pPr>
            <a:endParaRPr lang="en-US"/>
          </a:p>
          <a:p>
            <a:r>
              <a:rPr lang="en-US">
                <a:ea typeface="+mn-lt"/>
                <a:cs typeface="+mn-lt"/>
              </a:rPr>
              <a:t>This deletes the Pod, not the PersistentVolumeClaim or PersistentVolume.</a:t>
            </a:r>
            <a:endParaRPr lang="en-US"/>
          </a:p>
          <a:p>
            <a:endParaRPr lang="en-US"/>
          </a:p>
        </p:txBody>
      </p:sp>
      <p:pic>
        <p:nvPicPr>
          <p:cNvPr id="3" name="Picture 2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A8DECC82-C1F4-DD3A-FFC6-E701B4016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1587"/>
            <a:ext cx="12192000" cy="11569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CCCA85-A02E-6700-C82C-32432BB9AD81}"/>
              </a:ext>
            </a:extLst>
          </p:cNvPr>
          <p:cNvSpPr txBox="1"/>
          <p:nvPr/>
        </p:nvSpPr>
        <p:spPr>
          <a:xfrm>
            <a:off x="168375" y="3273940"/>
            <a:ext cx="1172464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10.3: </a:t>
            </a:r>
            <a:r>
              <a:rPr lang="en-US">
                <a:ea typeface="+mn-lt"/>
                <a:cs typeface="+mn-lt"/>
              </a:rPr>
              <a:t>Wait for PostgreSQL to restart</a:t>
            </a:r>
          </a:p>
          <a:p>
            <a:endParaRPr lang="en-US"/>
          </a:p>
          <a:p>
            <a:pPr marL="285750" indent="-285750">
              <a:buFont typeface="Calibri"/>
              <a:buChar char="-"/>
            </a:pPr>
            <a:r>
              <a:rPr lang="en-US"/>
              <a:t>kubectl rollout status deployment/postgres -n devops-assignment --timeout=180s</a:t>
            </a:r>
          </a:p>
        </p:txBody>
      </p:sp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DAC8B520-446E-8B1F-1222-12D5AF952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63720"/>
            <a:ext cx="12192000" cy="1219200"/>
          </a:xfrm>
          <a:prstGeom prst="rect">
            <a:avLst/>
          </a:prstGeom>
        </p:spPr>
      </p:pic>
      <p:pic>
        <p:nvPicPr>
          <p:cNvPr id="6" name="Picture 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4AD88EED-18DE-6880-6E58-583CD69AE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0" y="4975734"/>
            <a:ext cx="12192000" cy="13566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C1CC0D-2921-7615-21F3-9E11776F612E}"/>
              </a:ext>
            </a:extLst>
          </p:cNvPr>
          <p:cNvSpPr txBox="1"/>
          <p:nvPr/>
        </p:nvSpPr>
        <p:spPr>
          <a:xfrm>
            <a:off x="17692" y="6484293"/>
            <a:ext cx="120294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As expected K8s created new pod for </a:t>
            </a:r>
            <a:r>
              <a:rPr lang="en-US" err="1"/>
              <a:t>postgres</a:t>
            </a:r>
            <a:r>
              <a:rPr lang="en-US"/>
              <a:t>, </a:t>
            </a:r>
            <a:r>
              <a:rPr lang="en-US">
                <a:ea typeface="+mn-lt"/>
                <a:cs typeface="+mn-lt"/>
              </a:rPr>
              <a:t>The new PostgreSQL Pod running on the labelled node.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134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C9CC8D-20C8-73C8-36A4-EC9B602A6899}"/>
              </a:ext>
            </a:extLst>
          </p:cNvPr>
          <p:cNvSpPr txBox="1"/>
          <p:nvPr/>
        </p:nvSpPr>
        <p:spPr>
          <a:xfrm>
            <a:off x="232874" y="178080"/>
            <a:ext cx="1180592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Check the storage again:</a:t>
            </a:r>
            <a:endParaRPr lang="en-US"/>
          </a:p>
          <a:p>
            <a:pPr marL="285750" indent="-285750">
              <a:buFont typeface="Calibri"/>
              <a:buChar char="-"/>
            </a:pPr>
            <a:r>
              <a:rPr lang="en-US" err="1">
                <a:latin typeface="Consolas"/>
              </a:rPr>
              <a:t>kubectl</a:t>
            </a:r>
            <a:r>
              <a:rPr lang="en-US">
                <a:latin typeface="Consolas"/>
              </a:rPr>
              <a:t> get </a:t>
            </a:r>
            <a:r>
              <a:rPr lang="en-US" err="1">
                <a:latin typeface="Consolas"/>
              </a:rPr>
              <a:t>pv</a:t>
            </a:r>
            <a:endParaRPr lang="en-US" err="1">
              <a:latin typeface="Aptos" panose="02110004020202020204"/>
            </a:endParaRPr>
          </a:p>
          <a:p>
            <a:pPr marL="285750" indent="-285750">
              <a:buFont typeface="Calibri"/>
              <a:buChar char="-"/>
            </a:pPr>
            <a:r>
              <a:rPr lang="en-US" err="1">
                <a:latin typeface="Consolas"/>
              </a:rPr>
              <a:t>kubectl</a:t>
            </a:r>
            <a:r>
              <a:rPr lang="en-US">
                <a:latin typeface="Consolas"/>
              </a:rPr>
              <a:t> get </a:t>
            </a:r>
            <a:r>
              <a:rPr lang="en-US" err="1">
                <a:latin typeface="Consolas"/>
              </a:rPr>
              <a:t>pvc</a:t>
            </a:r>
            <a:r>
              <a:rPr lang="en-US">
                <a:latin typeface="Consolas"/>
              </a:rPr>
              <a:t> -n </a:t>
            </a:r>
            <a:r>
              <a:rPr lang="en-US" err="1">
                <a:latin typeface="Consolas"/>
              </a:rPr>
              <a:t>devops</a:t>
            </a:r>
            <a:r>
              <a:rPr lang="en-US">
                <a:latin typeface="Consolas"/>
              </a:rPr>
              <a:t>-assignment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The PVC should still be </a:t>
            </a:r>
            <a:r>
              <a:rPr lang="en-US">
                <a:latin typeface="Consolas"/>
              </a:rPr>
              <a:t>Bound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algn="l"/>
            <a:endParaRPr lang="en-US"/>
          </a:p>
          <a:p>
            <a:endParaRPr lang="en-US"/>
          </a:p>
          <a:p>
            <a:r>
              <a:rPr lang="en-US"/>
              <a:t>10.4: </a:t>
            </a:r>
            <a:r>
              <a:rPr lang="en-US">
                <a:ea typeface="+mn-lt"/>
                <a:cs typeface="+mn-lt"/>
              </a:rPr>
              <a:t>Verify the original record still exists</a:t>
            </a:r>
            <a:endParaRPr lang="en-US"/>
          </a:p>
          <a:p>
            <a:endParaRPr lang="en-US"/>
          </a:p>
          <a:p>
            <a:pPr marL="285750" indent="-285750">
              <a:buFont typeface="Calibri"/>
              <a:buChar char="-"/>
            </a:pPr>
            <a:r>
              <a:rPr lang="en-US"/>
              <a:t>curl http://localhost:8080/api/notes</a:t>
            </a:r>
          </a:p>
          <a:p>
            <a:endParaRPr lang="en-US"/>
          </a:p>
        </p:txBody>
      </p:sp>
      <p:pic>
        <p:nvPicPr>
          <p:cNvPr id="3" name="Picture 2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9C347F84-954F-EA71-ADE3-6EF6D0FCD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81847"/>
            <a:ext cx="12192000" cy="89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7267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BFEAF1-F58D-4961-0ADE-E1E4D7EA2DBE}"/>
              </a:ext>
            </a:extLst>
          </p:cNvPr>
          <p:cNvSpPr txBox="1"/>
          <p:nvPr/>
        </p:nvSpPr>
        <p:spPr>
          <a:xfrm>
            <a:off x="246572" y="24769"/>
            <a:ext cx="116941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Phase 11: Create a validation script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8639BA-32EE-582F-ECF9-0C1C5FFEE922}"/>
              </a:ext>
            </a:extLst>
          </p:cNvPr>
          <p:cNvSpPr txBox="1"/>
          <p:nvPr/>
        </p:nvSpPr>
        <p:spPr>
          <a:xfrm>
            <a:off x="221803" y="411410"/>
            <a:ext cx="11704320" cy="38779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latin typeface="Consolas"/>
              </a:rPr>
              <a:t>cat &gt; scripts/test.sh &lt;&lt;'EOF'
#!/bin/bash
set -e
BASE_URL="${BASE_URL:-http://localhost:8080}"
echo "Testing NGINX..."
curl -</a:t>
            </a:r>
            <a:r>
              <a:rPr lang="en-US" sz="1000" err="1">
                <a:latin typeface="Consolas"/>
              </a:rPr>
              <a:t>fsS</a:t>
            </a:r>
            <a:r>
              <a:rPr lang="en-US" sz="1000">
                <a:latin typeface="Consolas"/>
              </a:rPr>
              <a:t> "$BASE_URL/"
echo
echo "Testing API and PostgreSQL..."
curl -</a:t>
            </a:r>
            <a:r>
              <a:rPr lang="en-US" sz="1000" err="1">
                <a:latin typeface="Consolas"/>
              </a:rPr>
              <a:t>fsS</a:t>
            </a:r>
            <a:r>
              <a:rPr lang="en-US" sz="1000">
                <a:latin typeface="Consolas"/>
              </a:rPr>
              <a:t> "$BASE_URL/</a:t>
            </a:r>
            <a:r>
              <a:rPr lang="en-US" sz="1000" err="1">
                <a:latin typeface="Consolas"/>
              </a:rPr>
              <a:t>api</a:t>
            </a:r>
            <a:r>
              <a:rPr lang="en-US" sz="1000">
                <a:latin typeface="Consolas"/>
              </a:rPr>
              <a:t>/health"
echo
echo "Testing web backend..."
curl -</a:t>
            </a:r>
            <a:r>
              <a:rPr lang="en-US" sz="1000" err="1">
                <a:latin typeface="Consolas"/>
              </a:rPr>
              <a:t>fsS</a:t>
            </a:r>
            <a:r>
              <a:rPr lang="en-US" sz="1000">
                <a:latin typeface="Consolas"/>
              </a:rPr>
              <a:t> "$BASE_URL/web/"
echo
echo "All HTTP smoke tests passed."
EOF</a:t>
            </a:r>
          </a:p>
          <a:p>
            <a:endParaRPr lang="en-US" sz="1000">
              <a:latin typeface="Consolas"/>
            </a:endParaRPr>
          </a:p>
          <a:p>
            <a:r>
              <a:rPr lang="en-US" sz="1600">
                <a:latin typeface="Arial"/>
                <a:cs typeface="Arial"/>
              </a:rPr>
              <a:t>Make this script executable</a:t>
            </a:r>
          </a:p>
          <a:p>
            <a:endParaRPr lang="en-US" sz="1000">
              <a:latin typeface="Consolas"/>
            </a:endParaRPr>
          </a:p>
          <a:p>
            <a:pPr marL="171450" indent="-171450">
              <a:buFont typeface="Calibri"/>
              <a:buChar char="-"/>
            </a:pPr>
            <a:r>
              <a:rPr lang="en-US" sz="1200" err="1">
                <a:latin typeface="Calibri"/>
                <a:ea typeface="Calibri"/>
                <a:cs typeface="Calibri"/>
              </a:rPr>
              <a:t>chmod</a:t>
            </a:r>
            <a:r>
              <a:rPr lang="en-US" sz="1200">
                <a:latin typeface="Calibri"/>
                <a:ea typeface="Calibri"/>
                <a:cs typeface="Calibri"/>
              </a:rPr>
              <a:t> +x scripts/test.sh</a:t>
            </a:r>
          </a:p>
        </p:txBody>
      </p:sp>
      <p:pic>
        <p:nvPicPr>
          <p:cNvPr id="6" name="Picture 5" descr="A white screen with black text&#10;&#10;AI-generated content may be incorrect.">
            <a:extLst>
              <a:ext uri="{FF2B5EF4-FFF2-40B4-BE49-F238E27FC236}">
                <a16:creationId xmlns:a16="http://schemas.microsoft.com/office/drawing/2014/main" id="{90F96B33-8858-6B64-3553-60D46C827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4323"/>
            <a:ext cx="12192000" cy="256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5918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413A8E-C04E-6EDC-5113-C4C4B8D788CF}"/>
              </a:ext>
            </a:extLst>
          </p:cNvPr>
          <p:cNvSpPr txBox="1"/>
          <p:nvPr/>
        </p:nvSpPr>
        <p:spPr>
          <a:xfrm>
            <a:off x="299214" y="16320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1ED2CF-A9DB-898A-91F2-E9C550292C28}"/>
              </a:ext>
            </a:extLst>
          </p:cNvPr>
          <p:cNvSpPr txBox="1"/>
          <p:nvPr/>
        </p:nvSpPr>
        <p:spPr>
          <a:xfrm>
            <a:off x="288892" y="183851"/>
            <a:ext cx="11623040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Phase 12: Now we are going to </a:t>
            </a:r>
            <a:r>
              <a:rPr lang="en-US" b="1">
                <a:ea typeface="+mn-lt"/>
                <a:cs typeface="+mn-lt"/>
              </a:rPr>
              <a:t>Create a deployment script</a:t>
            </a:r>
          </a:p>
          <a:p>
            <a:r>
              <a:rPr lang="en-US" sz="1000"/>
              <a:t>cat &gt; scripts/deploy.sh &lt;&lt;'EOF'</a:t>
            </a:r>
          </a:p>
          <a:p>
            <a:r>
              <a:rPr lang="en-US" sz="1000"/>
              <a:t>#!/bin/bash</a:t>
            </a:r>
          </a:p>
          <a:p>
            <a:r>
              <a:rPr lang="en-US" sz="1000"/>
              <a:t>set -</a:t>
            </a:r>
            <a:r>
              <a:rPr lang="en-US" sz="1000" err="1"/>
              <a:t>euo</a:t>
            </a:r>
            <a:r>
              <a:rPr lang="en-US" sz="1000"/>
              <a:t> </a:t>
            </a:r>
            <a:r>
              <a:rPr lang="en-US" sz="1000" err="1"/>
              <a:t>pipefail</a:t>
            </a:r>
            <a:endParaRPr lang="en-US" sz="1000"/>
          </a:p>
          <a:p>
            <a:endParaRPr lang="en-US" sz="1000"/>
          </a:p>
          <a:p>
            <a:r>
              <a:rPr lang="en-US" sz="1000"/>
              <a:t>cd "$(</a:t>
            </a:r>
            <a:r>
              <a:rPr lang="en-US" sz="1000" err="1"/>
              <a:t>dirname</a:t>
            </a:r>
            <a:r>
              <a:rPr lang="en-US" sz="1000"/>
              <a:t> "$0")/.."</a:t>
            </a:r>
          </a:p>
          <a:p>
            <a:r>
              <a:rPr lang="en-US" sz="1000"/>
              <a:t>echo "Checking Kubernetes..."</a:t>
            </a:r>
          </a:p>
          <a:p>
            <a:r>
              <a:rPr lang="en-US" sz="1000" err="1"/>
              <a:t>kubectl</a:t>
            </a:r>
            <a:r>
              <a:rPr lang="en-US" sz="1000"/>
              <a:t> get nodes</a:t>
            </a:r>
          </a:p>
          <a:p>
            <a:endParaRPr lang="en-US" sz="1000"/>
          </a:p>
          <a:p>
            <a:r>
              <a:rPr lang="en-US" sz="1000"/>
              <a:t>NODE=$(</a:t>
            </a:r>
            <a:r>
              <a:rPr lang="en-US" sz="1000" err="1"/>
              <a:t>kubectl</a:t>
            </a:r>
            <a:r>
              <a:rPr lang="en-US" sz="1000"/>
              <a:t> get nodes -o </a:t>
            </a:r>
            <a:r>
              <a:rPr lang="en-US" sz="1000" err="1"/>
              <a:t>jsonpath</a:t>
            </a:r>
            <a:r>
              <a:rPr lang="en-US" sz="1000"/>
              <a:t>='{.items[0].metadata.name}')</a:t>
            </a:r>
          </a:p>
          <a:p>
            <a:r>
              <a:rPr lang="en-US" sz="1000" err="1"/>
              <a:t>kubectl</a:t>
            </a:r>
            <a:r>
              <a:rPr lang="en-US" sz="1000"/>
              <a:t> label nodes "$NODE" workload=database --overwrite</a:t>
            </a:r>
          </a:p>
          <a:p>
            <a:endParaRPr lang="en-US" sz="1000"/>
          </a:p>
          <a:p>
            <a:r>
              <a:rPr lang="en-US" sz="1000"/>
              <a:t>echo "Building the API image..."</a:t>
            </a:r>
          </a:p>
          <a:p>
            <a:r>
              <a:rPr lang="en-US" sz="1000"/>
              <a:t>docker build -t devops-notes-api:1.0 ./app</a:t>
            </a:r>
          </a:p>
          <a:p>
            <a:r>
              <a:rPr lang="en-US" sz="1000"/>
              <a:t>echo "Creating namespace..."</a:t>
            </a:r>
          </a:p>
          <a:p>
            <a:r>
              <a:rPr lang="en-US" sz="1000" err="1"/>
              <a:t>kubectl</a:t>
            </a:r>
            <a:r>
              <a:rPr lang="en-US" sz="1000"/>
              <a:t> apply -f k8s/</a:t>
            </a:r>
            <a:r>
              <a:rPr lang="en-US" sz="1000" err="1"/>
              <a:t>namespace.yaml</a:t>
            </a:r>
            <a:endParaRPr lang="en-US" sz="1000"/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D5D132-42E3-8BC5-BC39-FE026C0311D5}"/>
              </a:ext>
            </a:extLst>
          </p:cNvPr>
          <p:cNvSpPr txBox="1"/>
          <p:nvPr/>
        </p:nvSpPr>
        <p:spPr>
          <a:xfrm>
            <a:off x="4665023" y="533866"/>
            <a:ext cx="6847840" cy="42165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echo "Configuring storage..."</a:t>
            </a:r>
          </a:p>
          <a:p>
            <a:r>
              <a:rPr lang="en-US" sz="1000" err="1"/>
              <a:t>kubectl</a:t>
            </a:r>
            <a:r>
              <a:rPr lang="en-US" sz="1000"/>
              <a:t> apply -f k8s/</a:t>
            </a:r>
            <a:r>
              <a:rPr lang="en-US" sz="1000" err="1"/>
              <a:t>storage.yaml</a:t>
            </a:r>
          </a:p>
          <a:p>
            <a:r>
              <a:rPr lang="en-US" sz="1000"/>
              <a:t>echo "Deploying PostgreSQL..."</a:t>
            </a:r>
          </a:p>
          <a:p>
            <a:r>
              <a:rPr lang="en-US" sz="1000" err="1"/>
              <a:t>kubectl</a:t>
            </a:r>
            <a:r>
              <a:rPr lang="en-US" sz="1000"/>
              <a:t> apply -f k8s/</a:t>
            </a:r>
            <a:r>
              <a:rPr lang="en-US" sz="1000" err="1"/>
              <a:t>postgres.yaml</a:t>
            </a:r>
          </a:p>
          <a:p>
            <a:r>
              <a:rPr lang="en-US" sz="1000" err="1"/>
              <a:t>kubectl</a:t>
            </a:r>
            <a:r>
              <a:rPr lang="en-US" sz="1000"/>
              <a:t> rollout status deployment/</a:t>
            </a:r>
            <a:r>
              <a:rPr lang="en-US" sz="1000" err="1"/>
              <a:t>postgres</a:t>
            </a:r>
            <a:r>
              <a:rPr lang="en-US" sz="1000"/>
              <a:t> \</a:t>
            </a:r>
          </a:p>
          <a:p>
            <a:r>
              <a:rPr lang="en-US" sz="1000"/>
              <a:t>  -n </a:t>
            </a:r>
            <a:r>
              <a:rPr lang="en-US" sz="1000" err="1"/>
              <a:t>devops</a:t>
            </a:r>
            <a:r>
              <a:rPr lang="en-US" sz="1000"/>
              <a:t>-assignment --timeout=180s</a:t>
            </a:r>
          </a:p>
          <a:p>
            <a:endParaRPr lang="en-US" sz="1000"/>
          </a:p>
          <a:p>
            <a:r>
              <a:rPr lang="en-US" sz="1000"/>
              <a:t>echo "Deploying application..."</a:t>
            </a:r>
          </a:p>
          <a:p>
            <a:r>
              <a:rPr lang="en-US" sz="1000" err="1"/>
              <a:t>kubectl</a:t>
            </a:r>
            <a:r>
              <a:rPr lang="en-US" sz="1000"/>
              <a:t> apply -f k8s/</a:t>
            </a:r>
            <a:r>
              <a:rPr lang="en-US" sz="1000" err="1"/>
              <a:t>app.yaml</a:t>
            </a:r>
          </a:p>
          <a:p>
            <a:r>
              <a:rPr lang="en-US" sz="1000" err="1"/>
              <a:t>kubectl</a:t>
            </a:r>
            <a:r>
              <a:rPr lang="en-US" sz="1000"/>
              <a:t> rollout status deployment/notes-</a:t>
            </a:r>
            <a:r>
              <a:rPr lang="en-US" sz="1000" err="1"/>
              <a:t>api</a:t>
            </a:r>
            <a:r>
              <a:rPr lang="en-US" sz="1000"/>
              <a:t> \</a:t>
            </a:r>
          </a:p>
          <a:p>
            <a:r>
              <a:rPr lang="en-US" sz="1000"/>
              <a:t>  -n </a:t>
            </a:r>
            <a:r>
              <a:rPr lang="en-US" sz="1000" err="1"/>
              <a:t>devops</a:t>
            </a:r>
            <a:r>
              <a:rPr lang="en-US" sz="1000"/>
              <a:t>-assignment --timeout=180s</a:t>
            </a:r>
          </a:p>
          <a:p>
            <a:r>
              <a:rPr lang="en-US" sz="1000" err="1"/>
              <a:t>kubectl</a:t>
            </a:r>
            <a:r>
              <a:rPr lang="en-US" sz="1000"/>
              <a:t> rollout status deployment/web-backend \</a:t>
            </a:r>
          </a:p>
          <a:p>
            <a:r>
              <a:rPr lang="en-US" sz="1000"/>
              <a:t>  -n </a:t>
            </a:r>
            <a:r>
              <a:rPr lang="en-US" sz="1000" err="1"/>
              <a:t>devops</a:t>
            </a:r>
            <a:r>
              <a:rPr lang="en-US" sz="1000"/>
              <a:t>-assignment --timeout=180s</a:t>
            </a:r>
          </a:p>
          <a:p>
            <a:endParaRPr lang="en-US" sz="1000"/>
          </a:p>
          <a:p>
            <a:r>
              <a:rPr lang="en-US" sz="1000"/>
              <a:t>echo "Deploying NGINX..."</a:t>
            </a:r>
          </a:p>
          <a:p>
            <a:r>
              <a:rPr lang="en-US" sz="1000" err="1"/>
              <a:t>kubectl</a:t>
            </a:r>
            <a:r>
              <a:rPr lang="en-US" sz="1000"/>
              <a:t> apply -f k8s/</a:t>
            </a:r>
            <a:r>
              <a:rPr lang="en-US" sz="1000" err="1"/>
              <a:t>nginx.yaml</a:t>
            </a:r>
          </a:p>
          <a:p>
            <a:r>
              <a:rPr lang="en-US" sz="1000" err="1"/>
              <a:t>kubectl</a:t>
            </a:r>
            <a:r>
              <a:rPr lang="en-US" sz="1000"/>
              <a:t> rollout status deployment/nginx-proxy \</a:t>
            </a:r>
          </a:p>
          <a:p>
            <a:r>
              <a:rPr lang="en-US" sz="1000"/>
              <a:t>  -n </a:t>
            </a:r>
            <a:r>
              <a:rPr lang="en-US" sz="1000" err="1"/>
              <a:t>devops</a:t>
            </a:r>
            <a:r>
              <a:rPr lang="en-US" sz="1000"/>
              <a:t>-assignment --timeout=180s</a:t>
            </a:r>
          </a:p>
          <a:p>
            <a:endParaRPr lang="en-US" sz="1000"/>
          </a:p>
          <a:p>
            <a:r>
              <a:rPr lang="en-US" sz="1000"/>
              <a:t>echo "Deployment complete."</a:t>
            </a:r>
          </a:p>
          <a:p>
            <a:r>
              <a:rPr lang="en-US" sz="1000" err="1"/>
              <a:t>kubectl</a:t>
            </a:r>
            <a:r>
              <a:rPr lang="en-US" sz="1000"/>
              <a:t> get </a:t>
            </a:r>
            <a:r>
              <a:rPr lang="en-US" sz="1000" err="1"/>
              <a:t>pods,services</a:t>
            </a:r>
            <a:r>
              <a:rPr lang="en-US" sz="1000"/>
              <a:t> -n </a:t>
            </a:r>
            <a:r>
              <a:rPr lang="en-US" sz="1000" err="1"/>
              <a:t>devops</a:t>
            </a:r>
            <a:r>
              <a:rPr lang="en-US" sz="1000"/>
              <a:t>-assignment</a:t>
            </a:r>
          </a:p>
          <a:p>
            <a:r>
              <a:rPr lang="en-US" sz="1000" err="1"/>
              <a:t>kubectl</a:t>
            </a:r>
            <a:r>
              <a:rPr lang="en-US" sz="1000"/>
              <a:t> get </a:t>
            </a:r>
            <a:r>
              <a:rPr lang="en-US" sz="1000" err="1"/>
              <a:t>pv,pvc</a:t>
            </a:r>
            <a:r>
              <a:rPr lang="en-US" sz="1000"/>
              <a:t> -n </a:t>
            </a:r>
            <a:r>
              <a:rPr lang="en-US" sz="1000" err="1"/>
              <a:t>devops</a:t>
            </a:r>
            <a:r>
              <a:rPr lang="en-US" sz="1000"/>
              <a:t>-assignment</a:t>
            </a:r>
          </a:p>
          <a:p>
            <a:r>
              <a:rPr lang="en-US" sz="1000"/>
              <a:t>EOF</a:t>
            </a:r>
          </a:p>
          <a:p>
            <a:endParaRPr lang="en-US" sz="1000"/>
          </a:p>
          <a:p>
            <a:r>
              <a:rPr lang="en-US" sz="1000" err="1"/>
              <a:t>chmod</a:t>
            </a:r>
            <a:r>
              <a:rPr lang="en-US" sz="1000"/>
              <a:t> +x scripts/deploy.sh</a:t>
            </a:r>
          </a:p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A054E7-BF2A-3D2C-198C-36A91E14F5A3}"/>
              </a:ext>
            </a:extLst>
          </p:cNvPr>
          <p:cNvSpPr txBox="1"/>
          <p:nvPr/>
        </p:nvSpPr>
        <p:spPr>
          <a:xfrm>
            <a:off x="163207" y="4739745"/>
            <a:ext cx="1136904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This script documents the deployment order and can be reused. Run it from your project folder with</a:t>
            </a:r>
          </a:p>
          <a:p>
            <a:endParaRPr lang="en-US"/>
          </a:p>
          <a:p>
            <a:pPr marL="285750" indent="-285750">
              <a:buFont typeface="Calibri"/>
              <a:buChar char="-"/>
            </a:pPr>
            <a:r>
              <a:rPr lang="en-US"/>
              <a:t>./scripts/deploy.sh</a:t>
            </a:r>
          </a:p>
        </p:txBody>
      </p:sp>
    </p:spTree>
    <p:extLst>
      <p:ext uri="{BB962C8B-B14F-4D97-AF65-F5344CB8AC3E}">
        <p14:creationId xmlns:p14="http://schemas.microsoft.com/office/powerpoint/2010/main" val="37139286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C8C537-1BDB-0440-0DB2-E6BF6DB8B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29"/>
            <a:ext cx="12192000" cy="2090057"/>
          </a:xfrm>
          <a:prstGeom prst="rect">
            <a:avLst/>
          </a:prstGeom>
        </p:spPr>
      </p:pic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C3B9F7EB-E95D-D34D-679F-135DC05A1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17299"/>
            <a:ext cx="12192000" cy="3491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4681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ECABFD-94B5-B4BC-5B75-B21A09C4FAE6}"/>
              </a:ext>
            </a:extLst>
          </p:cNvPr>
          <p:cNvSpPr txBox="1"/>
          <p:nvPr/>
        </p:nvSpPr>
        <p:spPr>
          <a:xfrm>
            <a:off x="136006" y="476022"/>
            <a:ext cx="1191768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So, Now Check each and every thing we integrated</a:t>
            </a:r>
          </a:p>
          <a:p>
            <a:endParaRPr lang="en-US"/>
          </a:p>
          <a:p>
            <a:pPr marL="342900" indent="-342900">
              <a:buAutoNum type="arabicPeriod"/>
            </a:pPr>
            <a:r>
              <a:rPr lang="en-US"/>
              <a:t>Kubectl get nodes</a:t>
            </a:r>
          </a:p>
        </p:txBody>
      </p:sp>
      <p:pic>
        <p:nvPicPr>
          <p:cNvPr id="3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60ECE9F6-893F-EC9A-86FF-E67B2817C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6771"/>
            <a:ext cx="12192000" cy="7522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89C968-6F8A-8BAA-0BBD-2E25D9263D88}"/>
              </a:ext>
            </a:extLst>
          </p:cNvPr>
          <p:cNvSpPr txBox="1"/>
          <p:nvPr/>
        </p:nvSpPr>
        <p:spPr>
          <a:xfrm>
            <a:off x="128963" y="2461717"/>
            <a:ext cx="116128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2. </a:t>
            </a:r>
            <a:r>
              <a:rPr lang="en-US" err="1">
                <a:latin typeface="Consolas"/>
              </a:rPr>
              <a:t>kubectl</a:t>
            </a:r>
            <a:r>
              <a:rPr lang="en-US">
                <a:latin typeface="Consolas"/>
              </a:rPr>
              <a:t> get all -n </a:t>
            </a:r>
            <a:r>
              <a:rPr lang="en-US" err="1">
                <a:latin typeface="Consolas"/>
              </a:rPr>
              <a:t>devops</a:t>
            </a:r>
            <a:r>
              <a:rPr lang="en-US">
                <a:latin typeface="Consolas"/>
              </a:rPr>
              <a:t>-assignment</a:t>
            </a:r>
            <a:endParaRPr lang="en-US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4970EA0-3AC7-4B80-3496-E210D1E1F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36240"/>
            <a:ext cx="12192000" cy="39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7276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48CF38-89F6-5175-1AD4-568AADE377BF}"/>
              </a:ext>
            </a:extLst>
          </p:cNvPr>
          <p:cNvSpPr txBox="1"/>
          <p:nvPr/>
        </p:nvSpPr>
        <p:spPr>
          <a:xfrm>
            <a:off x="119613" y="2036088"/>
            <a:ext cx="117144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4. </a:t>
            </a:r>
            <a:r>
              <a:rPr lang="en-US" err="1">
                <a:latin typeface="Consolas"/>
              </a:rPr>
              <a:t>kubectl</a:t>
            </a:r>
            <a:r>
              <a:rPr lang="en-US">
                <a:latin typeface="Consolas"/>
              </a:rPr>
              <a:t> get </a:t>
            </a:r>
            <a:r>
              <a:rPr lang="en-US" err="1">
                <a:latin typeface="Consolas"/>
              </a:rPr>
              <a:t>pv</a:t>
            </a:r>
            <a:endParaRPr lang="en-US" err="1"/>
          </a:p>
        </p:txBody>
      </p:sp>
      <p:pic>
        <p:nvPicPr>
          <p:cNvPr id="4" name="Picture 3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6873055B-F673-9C77-D326-64FA00948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3323"/>
            <a:ext cx="12192000" cy="13622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9C2348-9024-7C0B-B440-A26B327E2DD2}"/>
              </a:ext>
            </a:extLst>
          </p:cNvPr>
          <p:cNvSpPr txBox="1"/>
          <p:nvPr/>
        </p:nvSpPr>
        <p:spPr>
          <a:xfrm>
            <a:off x="119612" y="4087"/>
            <a:ext cx="117144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3. </a:t>
            </a:r>
            <a:r>
              <a:rPr lang="en-US" err="1">
                <a:latin typeface="Consolas"/>
              </a:rPr>
              <a:t>kubectl</a:t>
            </a:r>
            <a:r>
              <a:rPr lang="en-US">
                <a:latin typeface="Consolas"/>
              </a:rPr>
              <a:t> get </a:t>
            </a:r>
            <a:r>
              <a:rPr lang="en-US" err="1">
                <a:latin typeface="Consolas"/>
              </a:rPr>
              <a:t>storageclass</a:t>
            </a:r>
            <a:endParaRPr lang="en-US" err="1"/>
          </a:p>
        </p:txBody>
      </p:sp>
      <p:pic>
        <p:nvPicPr>
          <p:cNvPr id="7" name="Picture 6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C6CC5FFF-7C0E-50C1-A985-EC5EFFB77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97397"/>
            <a:ext cx="12192000" cy="11552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15932B-F167-EF0A-B1BD-0A537F1E218C}"/>
              </a:ext>
            </a:extLst>
          </p:cNvPr>
          <p:cNvSpPr txBox="1"/>
          <p:nvPr/>
        </p:nvSpPr>
        <p:spPr>
          <a:xfrm>
            <a:off x="-2308" y="3986807"/>
            <a:ext cx="117144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5. </a:t>
            </a:r>
            <a:r>
              <a:rPr lang="en-US" err="1">
                <a:latin typeface="Consolas"/>
              </a:rPr>
              <a:t>kubectl</a:t>
            </a:r>
            <a:r>
              <a:rPr lang="en-US">
                <a:latin typeface="Consolas"/>
              </a:rPr>
              <a:t> get </a:t>
            </a:r>
            <a:r>
              <a:rPr lang="en-US" err="1">
                <a:latin typeface="Consolas"/>
              </a:rPr>
              <a:t>pvc</a:t>
            </a:r>
            <a:r>
              <a:rPr lang="en-US">
                <a:latin typeface="Consolas"/>
              </a:rPr>
              <a:t> –n </a:t>
            </a:r>
            <a:r>
              <a:rPr lang="en-US" err="1">
                <a:latin typeface="Consolas"/>
              </a:rPr>
              <a:t>devops</a:t>
            </a:r>
            <a:r>
              <a:rPr lang="en-US">
                <a:latin typeface="Consolas"/>
              </a:rPr>
              <a:t>-assignment</a:t>
            </a:r>
            <a:endParaRPr lang="en-US" err="1"/>
          </a:p>
        </p:txBody>
      </p:sp>
      <p:pic>
        <p:nvPicPr>
          <p:cNvPr id="9" name="Picture 8" descr="A close-up of black text&#10;&#10;AI-generated content may be incorrect.">
            <a:extLst>
              <a:ext uri="{FF2B5EF4-FFF2-40B4-BE49-F238E27FC236}">
                <a16:creationId xmlns:a16="http://schemas.microsoft.com/office/drawing/2014/main" id="{5643B5FF-F79E-854D-957E-0FC1B9CB1E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42658"/>
            <a:ext cx="12192000" cy="1108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9912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D67880-0CB3-0E4B-B54E-FBA7EB394C4A}"/>
              </a:ext>
            </a:extLst>
          </p:cNvPr>
          <p:cNvSpPr txBox="1"/>
          <p:nvPr/>
        </p:nvSpPr>
        <p:spPr>
          <a:xfrm>
            <a:off x="312814" y="122405"/>
            <a:ext cx="1117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Check that your YAML files exists or not</a:t>
            </a:r>
          </a:p>
          <a:p>
            <a:endParaRPr lang="en-US"/>
          </a:p>
          <a:p>
            <a:pPr marL="285750" indent="-285750">
              <a:buFont typeface="Calibri"/>
              <a:buChar char="-"/>
            </a:pPr>
            <a:r>
              <a:rPr lang="en-US"/>
              <a:t>find . -</a:t>
            </a:r>
            <a:r>
              <a:rPr lang="en-US" err="1"/>
              <a:t>maxdepth</a:t>
            </a:r>
            <a:r>
              <a:rPr lang="en-US"/>
              <a:t> 3 -type f</a:t>
            </a:r>
          </a:p>
        </p:txBody>
      </p:sp>
      <p:pic>
        <p:nvPicPr>
          <p:cNvPr id="4" name="Picture 3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B52EFB5F-2DDC-3F90-8A2C-A2F412B33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6645"/>
            <a:ext cx="12192000" cy="328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3865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3067CC-048A-72F0-0D5C-13393FAA6798}"/>
              </a:ext>
            </a:extLst>
          </p:cNvPr>
          <p:cNvSpPr txBox="1"/>
          <p:nvPr/>
        </p:nvSpPr>
        <p:spPr>
          <a:xfrm>
            <a:off x="285613" y="244811"/>
            <a:ext cx="11694160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Phase 13: </a:t>
            </a:r>
            <a:r>
              <a:rPr lang="en-US">
                <a:ea typeface="+mn-lt"/>
                <a:cs typeface="+mn-lt"/>
              </a:rPr>
              <a:t>Save your project using Git, we are adding project in local repository </a:t>
            </a:r>
          </a:p>
          <a:p>
            <a:endParaRPr lang="en-US"/>
          </a:p>
          <a:p>
            <a:pPr marL="285750" indent="-285750">
              <a:buFont typeface="Calibri"/>
              <a:buChar char="-"/>
            </a:pPr>
            <a:r>
              <a:rPr lang="en-US">
                <a:latin typeface="Consolas"/>
              </a:rPr>
              <a:t>git </a:t>
            </a:r>
            <a:r>
              <a:rPr lang="en-US" err="1">
                <a:latin typeface="Consolas"/>
              </a:rPr>
              <a:t>init</a:t>
            </a:r>
            <a:endParaRPr lang="en-US" err="1">
              <a:latin typeface="Aptos" panose="02110004020202020204"/>
            </a:endParaRPr>
          </a:p>
          <a:p>
            <a:pPr marL="285750" indent="-285750">
              <a:buFont typeface="Calibri"/>
              <a:buChar char="-"/>
            </a:pPr>
            <a:r>
              <a:rPr lang="en-US">
                <a:latin typeface="Consolas"/>
              </a:rPr>
              <a:t>git add README.md app k8s nginx scripts</a:t>
            </a:r>
            <a:endParaRPr lang="en-US">
              <a:latin typeface="Aptos" panose="02110004020202020204"/>
            </a:endParaRPr>
          </a:p>
          <a:p>
            <a:pPr marL="285750" indent="-285750">
              <a:buFont typeface="Calibri"/>
              <a:buChar char="-"/>
            </a:pPr>
            <a:r>
              <a:rPr lang="en-US">
                <a:latin typeface="Consolas"/>
              </a:rPr>
              <a:t>git status</a:t>
            </a:r>
            <a:endParaRPr lang="en-US">
              <a:latin typeface="Aptos" panose="02110004020202020204"/>
            </a:endParaRPr>
          </a:p>
          <a:p>
            <a:pPr marL="285750" indent="-285750">
              <a:buFont typeface="Calibri"/>
              <a:buChar char="-"/>
            </a:pPr>
            <a:r>
              <a:rPr lang="en-US">
                <a:latin typeface="Consolas"/>
              </a:rPr>
              <a:t>git commit -m "Complete Kubernetes DevOps assignment"</a:t>
            </a:r>
          </a:p>
          <a:p>
            <a:pPr marL="285750" indent="-285750">
              <a:buFont typeface="Calibri"/>
              <a:buChar char="-"/>
            </a:pPr>
            <a:endParaRPr lang="en-US">
              <a:latin typeface="Consolas"/>
            </a:endParaRPr>
          </a:p>
          <a:p>
            <a:pPr marL="285750" indent="-285750">
              <a:buFont typeface="Calibri"/>
              <a:buChar char="-"/>
            </a:pPr>
            <a:endParaRPr lang="en-US">
              <a:latin typeface="Consolas"/>
            </a:endParaRPr>
          </a:p>
          <a:p>
            <a:pPr marL="285750" indent="-285750">
              <a:buFont typeface="Calibri"/>
              <a:buChar char="-"/>
            </a:pPr>
            <a:r>
              <a:rPr lang="en-US" err="1">
                <a:latin typeface="Consolas"/>
              </a:rPr>
              <a:t>So</a:t>
            </a:r>
            <a:r>
              <a:rPr lang="en-US">
                <a:latin typeface="Consolas"/>
              </a:rPr>
              <a:t> we pushed files in Local repository</a:t>
            </a:r>
          </a:p>
          <a:p>
            <a:pPr marL="285750" indent="-285750">
              <a:buFont typeface="Calibri"/>
              <a:buChar char="-"/>
            </a:pPr>
            <a:endParaRPr lang="en-US">
              <a:latin typeface="Consolas"/>
            </a:endParaRPr>
          </a:p>
          <a:p>
            <a:pPr marL="285750" indent="-285750">
              <a:buFont typeface="Calibri"/>
              <a:buChar char="-"/>
            </a:pPr>
            <a:r>
              <a:rPr lang="en-US">
                <a:latin typeface="Consolas"/>
              </a:rPr>
              <a:t>Go to finder</a:t>
            </a:r>
          </a:p>
          <a:p>
            <a:pPr marL="285750" indent="-285750">
              <a:buFont typeface="Calibri"/>
              <a:buChar char="-"/>
            </a:pPr>
            <a:endParaRPr lang="en-US">
              <a:latin typeface="Consolas"/>
            </a:endParaRPr>
          </a:p>
          <a:p>
            <a:pPr marL="285750" indent="-285750">
              <a:buFont typeface="Calibri"/>
              <a:buChar char="-"/>
            </a:pPr>
            <a:r>
              <a:rPr lang="en-US" err="1">
                <a:latin typeface="Consolas"/>
              </a:rPr>
              <a:t>Shift+cmnd+G</a:t>
            </a:r>
          </a:p>
          <a:p>
            <a:pPr marL="285750" indent="-285750">
              <a:buFont typeface="Calibri"/>
              <a:buChar char="-"/>
            </a:pPr>
            <a:endParaRPr lang="en-US">
              <a:latin typeface="Consolas"/>
            </a:endParaRPr>
          </a:p>
          <a:p>
            <a:pPr marL="285750" indent="-285750">
              <a:buFont typeface="Calibri"/>
              <a:buChar char="-"/>
            </a:pPr>
            <a:r>
              <a:rPr lang="en-US">
                <a:latin typeface="Consolas"/>
              </a:rPr>
              <a:t>And search ~/</a:t>
            </a:r>
            <a:r>
              <a:rPr lang="en-US" err="1">
                <a:latin typeface="Consolas"/>
              </a:rPr>
              <a:t>kubernetes</a:t>
            </a:r>
            <a:r>
              <a:rPr lang="en-US">
                <a:latin typeface="Consolas"/>
              </a:rPr>
              <a:t>-</a:t>
            </a:r>
            <a:r>
              <a:rPr lang="en-US" err="1">
                <a:latin typeface="Consolas"/>
              </a:rPr>
              <a:t>devops</a:t>
            </a:r>
            <a:r>
              <a:rPr lang="en-US">
                <a:latin typeface="Consolas"/>
              </a:rPr>
              <a:t>-assignment</a:t>
            </a:r>
          </a:p>
        </p:txBody>
      </p:sp>
    </p:spTree>
    <p:extLst>
      <p:ext uri="{BB962C8B-B14F-4D97-AF65-F5344CB8AC3E}">
        <p14:creationId xmlns:p14="http://schemas.microsoft.com/office/powerpoint/2010/main" val="6146325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A400C18-D4B2-4559-A536-600DE88D2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" y="3428411"/>
            <a:ext cx="12192000" cy="26630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EA9D55-C28D-5211-CD60-E9D15C586B09}"/>
              </a:ext>
            </a:extLst>
          </p:cNvPr>
          <p:cNvSpPr txBox="1"/>
          <p:nvPr/>
        </p:nvSpPr>
        <p:spPr>
          <a:xfrm>
            <a:off x="81603" y="516824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5A9FAD-DB25-808B-24D2-517B4727CD3B}"/>
              </a:ext>
            </a:extLst>
          </p:cNvPr>
          <p:cNvSpPr txBox="1"/>
          <p:nvPr/>
        </p:nvSpPr>
        <p:spPr>
          <a:xfrm>
            <a:off x="312814" y="992847"/>
            <a:ext cx="113995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I also pushed project files in GitHub Repository</a:t>
            </a:r>
          </a:p>
        </p:txBody>
      </p:sp>
    </p:spTree>
    <p:extLst>
      <p:ext uri="{BB962C8B-B14F-4D97-AF65-F5344CB8AC3E}">
        <p14:creationId xmlns:p14="http://schemas.microsoft.com/office/powerpoint/2010/main" val="980803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38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Kubernetes-DevOps-Assignment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2026-10-29T14:27:45Z</dcterms:created>
  <dcterms:modified xsi:type="dcterms:W3CDTF">2026-10-29T18:09:13Z</dcterms:modified>
</cp:coreProperties>
</file>